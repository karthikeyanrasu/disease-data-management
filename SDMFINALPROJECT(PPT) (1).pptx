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61" r:id="rId2"/>
    <p:sldId id="262" r:id="rId3"/>
    <p:sldId id="263" r:id="rId4"/>
    <p:sldId id="267" r:id="rId5"/>
    <p:sldId id="257" r:id="rId6"/>
    <p:sldId id="268" r:id="rId7"/>
    <p:sldId id="264" r:id="rId8"/>
    <p:sldId id="266" r:id="rId9"/>
    <p:sldId id="265" r:id="rId10"/>
    <p:sldId id="271" r:id="rId11"/>
    <p:sldId id="270" r:id="rId12"/>
    <p:sldId id="272" r:id="rId13"/>
    <p:sldId id="273" r:id="rId14"/>
    <p:sldId id="274" r:id="rId15"/>
    <p:sldId id="275" r:id="rId16"/>
    <p:sldId id="281" r:id="rId17"/>
    <p:sldId id="276" r:id="rId18"/>
    <p:sldId id="277" r:id="rId19"/>
    <p:sldId id="260" r:id="rId20"/>
    <p:sldId id="280" r:id="rId21"/>
    <p:sldId id="282" r:id="rId22"/>
    <p:sldId id="283" r:id="rId23"/>
    <p:sldId id="285" r:id="rId24"/>
    <p:sldId id="284" r:id="rId25"/>
    <p:sldId id="286" r:id="rId26"/>
    <p:sldId id="287" r:id="rId27"/>
    <p:sldId id="288" r:id="rId28"/>
    <p:sldId id="289" r:id="rId29"/>
    <p:sldId id="290"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EE5029A-5493-473A-AFC7-2DD401E37212}">
          <p14:sldIdLst>
            <p14:sldId id="261"/>
            <p14:sldId id="262"/>
            <p14:sldId id="263"/>
            <p14:sldId id="267"/>
            <p14:sldId id="257"/>
            <p14:sldId id="268"/>
            <p14:sldId id="264"/>
            <p14:sldId id="266"/>
            <p14:sldId id="265"/>
            <p14:sldId id="271"/>
            <p14:sldId id="270"/>
            <p14:sldId id="272"/>
            <p14:sldId id="273"/>
            <p14:sldId id="274"/>
            <p14:sldId id="275"/>
            <p14:sldId id="281"/>
            <p14:sldId id="276"/>
            <p14:sldId id="277"/>
            <p14:sldId id="260"/>
            <p14:sldId id="280"/>
            <p14:sldId id="282"/>
            <p14:sldId id="283"/>
            <p14:sldId id="285"/>
            <p14:sldId id="284"/>
            <p14:sldId id="286"/>
            <p14:sldId id="287"/>
            <p14:sldId id="288"/>
            <p14:sldId id="289"/>
            <p14:sldId id="29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8" d="100"/>
          <a:sy n="88" d="100"/>
        </p:scale>
        <p:origin x="494"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40DC43A-888E-45DD-8C7E-2E807A8D8800}" type="datetimeFigureOut">
              <a:rPr lang="en-IN" smtClean="0"/>
              <a:t>09-05-2024</a:t>
            </a:fld>
            <a:endParaRPr lang="en-IN"/>
          </a:p>
        </p:txBody>
      </p:sp>
      <p:sp>
        <p:nvSpPr>
          <p:cNvPr id="5" name="Footer Placeholder 4"/>
          <p:cNvSpPr>
            <a:spLocks noGrp="1"/>
          </p:cNvSpPr>
          <p:nvPr>
            <p:ph type="ftr" sz="quarter" idx="11"/>
          </p:nvPr>
        </p:nvSpPr>
        <p:spPr>
          <a:xfrm>
            <a:off x="2416500" y="329307"/>
            <a:ext cx="4973915" cy="309201"/>
          </a:xfrm>
        </p:spPr>
        <p:txBody>
          <a:bodyPr/>
          <a:lstStyle/>
          <a:p>
            <a:endParaRPr lang="en-IN"/>
          </a:p>
        </p:txBody>
      </p:sp>
      <p:sp>
        <p:nvSpPr>
          <p:cNvPr id="6" name="Slide Number Placeholder 5"/>
          <p:cNvSpPr>
            <a:spLocks noGrp="1"/>
          </p:cNvSpPr>
          <p:nvPr>
            <p:ph type="sldNum" sz="quarter" idx="12"/>
          </p:nvPr>
        </p:nvSpPr>
        <p:spPr>
          <a:xfrm>
            <a:off x="1437664" y="798973"/>
            <a:ext cx="811019" cy="503578"/>
          </a:xfrm>
        </p:spPr>
        <p:txBody>
          <a:bodyPr/>
          <a:lstStyle/>
          <a:p>
            <a:fld id="{59A5986C-AE16-4C93-9264-D2BD3DFE9976}" type="slidenum">
              <a:rPr lang="en-IN" smtClean="0"/>
              <a:t>‹#›</a:t>
            </a:fld>
            <a:endParaRPr lang="en-IN"/>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9477902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40DC43A-888E-45DD-8C7E-2E807A8D8800}" type="datetimeFigureOut">
              <a:rPr lang="en-IN" smtClean="0"/>
              <a:t>09-05-2024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9A5986C-AE16-4C93-9264-D2BD3DFE9976}" type="slidenum">
              <a:rPr lang="en-IN" smtClean="0"/>
              <a:t>‹#›</a:t>
            </a:fld>
            <a:endParaRPr lang="en-IN"/>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9010613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40DC43A-888E-45DD-8C7E-2E807A8D8800}" type="datetimeFigureOut">
              <a:rPr lang="en-IN" smtClean="0"/>
              <a:t>09-05-2024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9A5986C-AE16-4C93-9264-D2BD3DFE9976}" type="slidenum">
              <a:rPr lang="en-IN" smtClean="0"/>
              <a:t>‹#›</a:t>
            </a:fld>
            <a:endParaRPr lang="en-IN"/>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9206772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40DC43A-888E-45DD-8C7E-2E807A8D8800}" type="datetimeFigureOut">
              <a:rPr lang="en-IN" smtClean="0"/>
              <a:t>09-05-2024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9A5986C-AE16-4C93-9264-D2BD3DFE9976}" type="slidenum">
              <a:rPr lang="en-IN" smtClean="0"/>
              <a:t>‹#›</a:t>
            </a:fld>
            <a:endParaRPr lang="en-IN"/>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594159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40DC43A-888E-45DD-8C7E-2E807A8D8800}" type="datetimeFigureOut">
              <a:rPr lang="en-IN" smtClean="0"/>
              <a:t>09-05-2024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9A5986C-AE16-4C93-9264-D2BD3DFE9976}" type="slidenum">
              <a:rPr lang="en-IN" smtClean="0"/>
              <a:t>‹#›</a:t>
            </a:fld>
            <a:endParaRPr lang="en-IN"/>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1927865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40DC43A-888E-45DD-8C7E-2E807A8D8800}" type="datetimeFigureOut">
              <a:rPr lang="en-IN" smtClean="0"/>
              <a:t>09-05-2024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9A5986C-AE16-4C93-9264-D2BD3DFE9976}" type="slidenum">
              <a:rPr lang="en-IN" smtClean="0"/>
              <a:t>‹#›</a:t>
            </a:fld>
            <a:endParaRPr lang="en-IN"/>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6619515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0DC43A-888E-45DD-8C7E-2E807A8D8800}" type="datetimeFigureOut">
              <a:rPr lang="en-IN" smtClean="0"/>
              <a:t>09-05-2024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9A5986C-AE16-4C93-9264-D2BD3DFE9976}" type="slidenum">
              <a:rPr lang="en-IN" smtClean="0"/>
              <a:t>‹#›</a:t>
            </a:fld>
            <a:endParaRPr lang="en-IN"/>
          </a:p>
        </p:txBody>
      </p:sp>
    </p:spTree>
    <p:extLst>
      <p:ext uri="{BB962C8B-B14F-4D97-AF65-F5344CB8AC3E}">
        <p14:creationId xmlns:p14="http://schemas.microsoft.com/office/powerpoint/2010/main" val="7964027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40DC43A-888E-45DD-8C7E-2E807A8D8800}" type="datetimeFigureOut">
              <a:rPr lang="en-IN" smtClean="0"/>
              <a:t>09-05-2024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9A5986C-AE16-4C93-9264-D2BD3DFE9976}" type="slidenum">
              <a:rPr lang="en-IN" smtClean="0"/>
              <a:t>‹#›</a:t>
            </a:fld>
            <a:endParaRPr lang="en-IN"/>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4650577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440DC43A-888E-45DD-8C7E-2E807A8D8800}" type="datetimeFigureOut">
              <a:rPr lang="en-IN" smtClean="0"/>
              <a:t>09-05-2024</a:t>
            </a:fld>
            <a:endParaRPr lang="en-IN"/>
          </a:p>
        </p:txBody>
      </p:sp>
      <p:sp>
        <p:nvSpPr>
          <p:cNvPr id="6" name="Footer Placeholder 5"/>
          <p:cNvSpPr>
            <a:spLocks noGrp="1"/>
          </p:cNvSpPr>
          <p:nvPr>
            <p:ph type="ftr" sz="quarter" idx="11"/>
          </p:nvPr>
        </p:nvSpPr>
        <p:spPr>
          <a:xfrm>
            <a:off x="1447382" y="318640"/>
            <a:ext cx="5541004" cy="320931"/>
          </a:xfrm>
        </p:spPr>
        <p:txBody>
          <a:bodyPr/>
          <a:lstStyle/>
          <a:p>
            <a:endParaRPr lang="en-IN"/>
          </a:p>
        </p:txBody>
      </p:sp>
      <p:sp>
        <p:nvSpPr>
          <p:cNvPr id="7" name="Slide Number Placeholder 6"/>
          <p:cNvSpPr>
            <a:spLocks noGrp="1"/>
          </p:cNvSpPr>
          <p:nvPr>
            <p:ph type="sldNum" sz="quarter" idx="12"/>
          </p:nvPr>
        </p:nvSpPr>
        <p:spPr/>
        <p:txBody>
          <a:bodyPr/>
          <a:lstStyle/>
          <a:p>
            <a:fld id="{59A5986C-AE16-4C93-9264-D2BD3DFE9976}" type="slidenum">
              <a:rPr lang="en-IN" smtClean="0"/>
              <a:t>‹#›</a:t>
            </a:fld>
            <a:endParaRPr lang="en-IN"/>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8751660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40DC43A-888E-45DD-8C7E-2E807A8D8800}" type="datetimeFigureOut">
              <a:rPr lang="en-IN" smtClean="0"/>
              <a:t>09-05-2024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9A5986C-AE16-4C93-9264-D2BD3DFE9976}" type="slidenum">
              <a:rPr lang="en-IN" smtClean="0"/>
              <a:t>‹#›</a:t>
            </a:fld>
            <a:endParaRPr lang="en-IN"/>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1557217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40DC43A-888E-45DD-8C7E-2E807A8D8800}" type="datetimeFigureOut">
              <a:rPr lang="en-IN" smtClean="0"/>
              <a:t>09-05-2024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9A5986C-AE16-4C93-9264-D2BD3DFE9976}" type="slidenum">
              <a:rPr lang="en-IN" smtClean="0"/>
              <a:t>‹#›</a:t>
            </a:fld>
            <a:endParaRPr lang="en-IN"/>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191024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440DC43A-888E-45DD-8C7E-2E807A8D8800}" type="datetimeFigureOut">
              <a:rPr lang="en-IN" smtClean="0"/>
              <a:t>09-05-2024</a:t>
            </a:fld>
            <a:endParaRPr lang="en-IN"/>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59A5986C-AE16-4C93-9264-D2BD3DFE9976}" type="slidenum">
              <a:rPr lang="en-IN" smtClean="0"/>
              <a:t>‹#›</a:t>
            </a:fld>
            <a:endParaRPr lang="en-IN"/>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6691214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19E63-B8C9-EAD6-7AFB-5F794AA5BBE6}"/>
              </a:ext>
            </a:extLst>
          </p:cNvPr>
          <p:cNvSpPr>
            <a:spLocks noGrp="1"/>
          </p:cNvSpPr>
          <p:nvPr>
            <p:ph type="ctrTitle"/>
          </p:nvPr>
        </p:nvSpPr>
        <p:spPr/>
        <p:txBody>
          <a:bodyPr/>
          <a:lstStyle/>
          <a:p>
            <a:r>
              <a:rPr lang="en-US" dirty="0"/>
              <a:t>DISEASE MODEL</a:t>
            </a:r>
            <a:endParaRPr lang="en-IN" dirty="0"/>
          </a:p>
        </p:txBody>
      </p:sp>
      <p:sp>
        <p:nvSpPr>
          <p:cNvPr id="3" name="Subtitle 2">
            <a:extLst>
              <a:ext uri="{FF2B5EF4-FFF2-40B4-BE49-F238E27FC236}">
                <a16:creationId xmlns:a16="http://schemas.microsoft.com/office/drawing/2014/main" id="{B556ACD7-CFE7-06EE-A0B6-2A32FF534200}"/>
              </a:ext>
            </a:extLst>
          </p:cNvPr>
          <p:cNvSpPr>
            <a:spLocks noGrp="1"/>
          </p:cNvSpPr>
          <p:nvPr>
            <p:ph type="subTitle" idx="1"/>
          </p:nvPr>
        </p:nvSpPr>
        <p:spPr/>
        <p:txBody>
          <a:bodyPr/>
          <a:lstStyle/>
          <a:p>
            <a:r>
              <a:rPr lang="en-US" dirty="0"/>
              <a:t>BY LASYA NANDAGIRI, KARTHIKEYAN RASU</a:t>
            </a:r>
            <a:endParaRPr lang="en-IN" dirty="0"/>
          </a:p>
        </p:txBody>
      </p:sp>
    </p:spTree>
    <p:extLst>
      <p:ext uri="{BB962C8B-B14F-4D97-AF65-F5344CB8AC3E}">
        <p14:creationId xmlns:p14="http://schemas.microsoft.com/office/powerpoint/2010/main" val="1252736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E0780A-F4EE-FFA0-5705-3508204FCE84}"/>
              </a:ext>
            </a:extLst>
          </p:cNvPr>
          <p:cNvSpPr>
            <a:spLocks noGrp="1"/>
          </p:cNvSpPr>
          <p:nvPr>
            <p:ph type="title"/>
          </p:nvPr>
        </p:nvSpPr>
        <p:spPr/>
        <p:txBody>
          <a:bodyPr/>
          <a:lstStyle/>
          <a:p>
            <a:r>
              <a:rPr lang="en-US" dirty="0"/>
              <a:t>INTRODUCTION</a:t>
            </a:r>
            <a:endParaRPr lang="en-IN" dirty="0"/>
          </a:p>
        </p:txBody>
      </p:sp>
      <p:sp>
        <p:nvSpPr>
          <p:cNvPr id="3" name="Content Placeholder 2">
            <a:extLst>
              <a:ext uri="{FF2B5EF4-FFF2-40B4-BE49-F238E27FC236}">
                <a16:creationId xmlns:a16="http://schemas.microsoft.com/office/drawing/2014/main" id="{70A6718F-139B-DA3D-7F4F-6F68AD0AABE9}"/>
              </a:ext>
            </a:extLst>
          </p:cNvPr>
          <p:cNvSpPr>
            <a:spLocks noGrp="1"/>
          </p:cNvSpPr>
          <p:nvPr>
            <p:ph idx="1"/>
          </p:nvPr>
        </p:nvSpPr>
        <p:spPr>
          <a:xfrm>
            <a:off x="1451579" y="2081719"/>
            <a:ext cx="9603275" cy="3450613"/>
          </a:xfrm>
        </p:spPr>
        <p:txBody>
          <a:bodyPr/>
          <a:lstStyle/>
          <a:p>
            <a:r>
              <a:rPr lang="en-US" dirty="0"/>
              <a:t>The Disease Management System is a comprehensive platform that enables healthcare professionals to efficiently manage patient data, track disease information, create and implement treatment protocols, and administer diagnostic tests across different. </a:t>
            </a:r>
          </a:p>
          <a:p>
            <a:endParaRPr lang="en-US" dirty="0"/>
          </a:p>
          <a:p>
            <a:r>
              <a:rPr lang="en-US" dirty="0"/>
              <a:t>With its robust features and user-friendly interface, the system streamlines the process of disease management and helps healthcare providers deliver high-quality care to their patients.</a:t>
            </a:r>
          </a:p>
          <a:p>
            <a:endParaRPr lang="en-IN" dirty="0"/>
          </a:p>
        </p:txBody>
      </p:sp>
    </p:spTree>
    <p:extLst>
      <p:ext uri="{BB962C8B-B14F-4D97-AF65-F5344CB8AC3E}">
        <p14:creationId xmlns:p14="http://schemas.microsoft.com/office/powerpoint/2010/main" val="31986403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98AF2-D3C4-3189-A429-22FCEA5B1F5C}"/>
              </a:ext>
            </a:extLst>
          </p:cNvPr>
          <p:cNvSpPr>
            <a:spLocks noGrp="1"/>
          </p:cNvSpPr>
          <p:nvPr>
            <p:ph type="title"/>
          </p:nvPr>
        </p:nvSpPr>
        <p:spPr/>
        <p:txBody>
          <a:bodyPr/>
          <a:lstStyle/>
          <a:p>
            <a:r>
              <a:rPr lang="en-US" dirty="0"/>
              <a:t>BUSINESS PROBLEM</a:t>
            </a:r>
            <a:endParaRPr lang="en-IN" dirty="0"/>
          </a:p>
        </p:txBody>
      </p:sp>
      <p:sp>
        <p:nvSpPr>
          <p:cNvPr id="3" name="Content Placeholder 2">
            <a:extLst>
              <a:ext uri="{FF2B5EF4-FFF2-40B4-BE49-F238E27FC236}">
                <a16:creationId xmlns:a16="http://schemas.microsoft.com/office/drawing/2014/main" id="{BEBE0349-39A3-421A-81BD-FBFC418E640A}"/>
              </a:ext>
            </a:extLst>
          </p:cNvPr>
          <p:cNvSpPr>
            <a:spLocks noGrp="1"/>
          </p:cNvSpPr>
          <p:nvPr>
            <p:ph idx="1"/>
          </p:nvPr>
        </p:nvSpPr>
        <p:spPr/>
        <p:txBody>
          <a:bodyPr/>
          <a:lstStyle/>
          <a:p>
            <a:pPr marL="0" indent="0">
              <a:buNone/>
            </a:pPr>
            <a:r>
              <a:rPr lang="en-IN" sz="2800" b="1" kern="100" dirty="0">
                <a:effectLst/>
                <a:latin typeface="+mj-lt"/>
                <a:ea typeface="Calibri" panose="020F0502020204030204" pitchFamily="34" charset="0"/>
                <a:cs typeface="Times New Roman" panose="02020603050405020304" pitchFamily="18" charset="0"/>
              </a:rPr>
              <a:t>"Enhancing disease management for healthcare providers by offering a comprehensive system that facilitates efficient tracking, diagnosis, and treatment of diseases, ultimately aiming to improve patient outcomes and streamline research and data analysis processes."</a:t>
            </a:r>
          </a:p>
          <a:p>
            <a:endParaRPr lang="en-IN" dirty="0"/>
          </a:p>
        </p:txBody>
      </p:sp>
    </p:spTree>
    <p:extLst>
      <p:ext uri="{BB962C8B-B14F-4D97-AF65-F5344CB8AC3E}">
        <p14:creationId xmlns:p14="http://schemas.microsoft.com/office/powerpoint/2010/main" val="36223237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E0780A-F4EE-FFA0-5705-3508204FCE84}"/>
              </a:ext>
            </a:extLst>
          </p:cNvPr>
          <p:cNvSpPr>
            <a:spLocks noGrp="1"/>
          </p:cNvSpPr>
          <p:nvPr>
            <p:ph type="title"/>
          </p:nvPr>
        </p:nvSpPr>
        <p:spPr/>
        <p:txBody>
          <a:bodyPr/>
          <a:lstStyle/>
          <a:p>
            <a:r>
              <a:rPr lang="en-US" dirty="0"/>
              <a:t>TABLES ( DISEASE MANAGEMENT )</a:t>
            </a:r>
            <a:endParaRPr lang="en-IN" dirty="0"/>
          </a:p>
        </p:txBody>
      </p:sp>
      <p:sp>
        <p:nvSpPr>
          <p:cNvPr id="3" name="Content Placeholder 2">
            <a:extLst>
              <a:ext uri="{FF2B5EF4-FFF2-40B4-BE49-F238E27FC236}">
                <a16:creationId xmlns:a16="http://schemas.microsoft.com/office/drawing/2014/main" id="{70A6718F-139B-DA3D-7F4F-6F68AD0AABE9}"/>
              </a:ext>
            </a:extLst>
          </p:cNvPr>
          <p:cNvSpPr>
            <a:spLocks noGrp="1"/>
          </p:cNvSpPr>
          <p:nvPr>
            <p:ph idx="1"/>
          </p:nvPr>
        </p:nvSpPr>
        <p:spPr>
          <a:xfrm>
            <a:off x="1451579" y="2081719"/>
            <a:ext cx="9603275" cy="3971762"/>
          </a:xfrm>
        </p:spPr>
        <p:txBody>
          <a:bodyPr>
            <a:normAutofit fontScale="70000" lnSpcReduction="20000"/>
          </a:bodyPr>
          <a:lstStyle/>
          <a:p>
            <a:pPr>
              <a:lnSpc>
                <a:spcPct val="100000"/>
              </a:lnSpc>
            </a:pPr>
            <a:r>
              <a:rPr lang="en-IN" sz="2700" dirty="0"/>
              <a:t>DISEASE_TYPE</a:t>
            </a:r>
          </a:p>
          <a:p>
            <a:pPr>
              <a:lnSpc>
                <a:spcPct val="100000"/>
              </a:lnSpc>
            </a:pPr>
            <a:r>
              <a:rPr lang="en-IN" sz="2700" dirty="0"/>
              <a:t>DISEASE</a:t>
            </a:r>
          </a:p>
          <a:p>
            <a:pPr>
              <a:lnSpc>
                <a:spcPct val="100000"/>
              </a:lnSpc>
            </a:pPr>
            <a:r>
              <a:rPr lang="en-IN" sz="2700" dirty="0"/>
              <a:t>LOCATION</a:t>
            </a:r>
          </a:p>
          <a:p>
            <a:pPr>
              <a:lnSpc>
                <a:spcPct val="100000"/>
              </a:lnSpc>
            </a:pPr>
            <a:r>
              <a:rPr lang="en-IN" sz="2700" dirty="0"/>
              <a:t>RACE</a:t>
            </a:r>
          </a:p>
          <a:p>
            <a:pPr>
              <a:lnSpc>
                <a:spcPct val="100000"/>
              </a:lnSpc>
            </a:pPr>
            <a:r>
              <a:rPr lang="en-IN" sz="2700" dirty="0"/>
              <a:t>PERSON</a:t>
            </a:r>
          </a:p>
          <a:p>
            <a:pPr>
              <a:lnSpc>
                <a:spcPct val="100000"/>
              </a:lnSpc>
            </a:pPr>
            <a:r>
              <a:rPr lang="en-IN" sz="2700" dirty="0"/>
              <a:t>TREATMENT_PLAN</a:t>
            </a:r>
          </a:p>
          <a:p>
            <a:pPr>
              <a:lnSpc>
                <a:spcPct val="100000"/>
              </a:lnSpc>
            </a:pPr>
            <a:r>
              <a:rPr lang="en-IN" sz="2700" dirty="0"/>
              <a:t>HOSPITAL</a:t>
            </a:r>
          </a:p>
          <a:p>
            <a:pPr>
              <a:lnSpc>
                <a:spcPct val="100000"/>
              </a:lnSpc>
            </a:pPr>
            <a:r>
              <a:rPr lang="en-IN" sz="2700" dirty="0"/>
              <a:t>HEALTH_CARE PROVIDER</a:t>
            </a:r>
          </a:p>
          <a:p>
            <a:pPr>
              <a:lnSpc>
                <a:spcPct val="100000"/>
              </a:lnSpc>
            </a:pPr>
            <a:r>
              <a:rPr lang="en-IN" sz="2700" dirty="0"/>
              <a:t>DIAGNOSTIC_TEST</a:t>
            </a:r>
          </a:p>
          <a:p>
            <a:pPr>
              <a:lnSpc>
                <a:spcPct val="100000"/>
              </a:lnSpc>
            </a:pPr>
            <a:r>
              <a:rPr lang="en-IN" sz="2700" dirty="0"/>
              <a:t>INSURANCE</a:t>
            </a:r>
          </a:p>
          <a:p>
            <a:pPr>
              <a:lnSpc>
                <a:spcPct val="100000"/>
              </a:lnSpc>
            </a:pPr>
            <a:r>
              <a:rPr lang="en-IN" sz="2700" dirty="0"/>
              <a:t>HOSPITAL_PERSON</a:t>
            </a:r>
          </a:p>
          <a:p>
            <a:endParaRPr lang="en-IN" dirty="0"/>
          </a:p>
          <a:p>
            <a:endParaRPr lang="en-IN" dirty="0"/>
          </a:p>
        </p:txBody>
      </p:sp>
    </p:spTree>
    <p:extLst>
      <p:ext uri="{BB962C8B-B14F-4D97-AF65-F5344CB8AC3E}">
        <p14:creationId xmlns:p14="http://schemas.microsoft.com/office/powerpoint/2010/main" val="8831905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F2B8955-1B90-5096-1357-D9015659BF61}"/>
              </a:ext>
            </a:extLst>
          </p:cNvPr>
          <p:cNvSpPr>
            <a:spLocks noGrp="1"/>
          </p:cNvSpPr>
          <p:nvPr>
            <p:ph type="title"/>
          </p:nvPr>
        </p:nvSpPr>
        <p:spPr>
          <a:xfrm>
            <a:off x="273377" y="247230"/>
            <a:ext cx="9603275" cy="568990"/>
          </a:xfrm>
        </p:spPr>
        <p:txBody>
          <a:bodyPr>
            <a:normAutofit fontScale="90000"/>
          </a:bodyPr>
          <a:lstStyle/>
          <a:p>
            <a:r>
              <a:rPr kumimoji="0" lang="en-US" sz="2900" b="0" i="0" u="none" strike="noStrike" kern="1200" cap="all" spc="0" normalizeH="0" baseline="0" noProof="0" dirty="0">
                <a:ln>
                  <a:noFill/>
                </a:ln>
                <a:solidFill>
                  <a:prstClr val="black"/>
                </a:solidFill>
                <a:effectLst/>
                <a:uLnTx/>
                <a:uFillTx/>
                <a:latin typeface="Gill Sans MT" panose="020B0502020104020203"/>
                <a:ea typeface="+mj-ea"/>
                <a:cs typeface="+mj-cs"/>
              </a:rPr>
              <a:t>ER DIAGRAM – TRANSACTIONAL MODEL – DISEASEMANAGEMENT</a:t>
            </a:r>
            <a:endParaRPr lang="en-IN" dirty="0"/>
          </a:p>
        </p:txBody>
      </p:sp>
      <p:pic>
        <p:nvPicPr>
          <p:cNvPr id="6" name="Content Placeholder 5">
            <a:extLst>
              <a:ext uri="{FF2B5EF4-FFF2-40B4-BE49-F238E27FC236}">
                <a16:creationId xmlns:a16="http://schemas.microsoft.com/office/drawing/2014/main" id="{84BC0799-5E4F-ED92-96F6-3F08D4FB0D71}"/>
              </a:ext>
            </a:extLst>
          </p:cNvPr>
          <p:cNvPicPr>
            <a:picLocks noGrp="1" noChangeAspect="1"/>
          </p:cNvPicPr>
          <p:nvPr>
            <p:ph idx="1"/>
          </p:nvPr>
        </p:nvPicPr>
        <p:blipFill>
          <a:blip r:embed="rId2"/>
          <a:stretch>
            <a:fillRect/>
          </a:stretch>
        </p:blipFill>
        <p:spPr>
          <a:xfrm>
            <a:off x="716437" y="1046375"/>
            <a:ext cx="11397005" cy="5665509"/>
          </a:xfrm>
          <a:prstGeom prst="rect">
            <a:avLst/>
          </a:prstGeom>
        </p:spPr>
      </p:pic>
    </p:spTree>
    <p:extLst>
      <p:ext uri="{BB962C8B-B14F-4D97-AF65-F5344CB8AC3E}">
        <p14:creationId xmlns:p14="http://schemas.microsoft.com/office/powerpoint/2010/main" val="6508832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4E73BF-B02D-DC82-A5B4-E11B83F4A282}"/>
              </a:ext>
            </a:extLst>
          </p:cNvPr>
          <p:cNvSpPr>
            <a:spLocks noGrp="1"/>
          </p:cNvSpPr>
          <p:nvPr>
            <p:ph type="title"/>
          </p:nvPr>
        </p:nvSpPr>
        <p:spPr>
          <a:xfrm>
            <a:off x="1479860" y="2152554"/>
            <a:ext cx="9603275" cy="967720"/>
          </a:xfrm>
        </p:spPr>
        <p:txBody>
          <a:bodyPr>
            <a:normAutofit/>
          </a:bodyPr>
          <a:lstStyle/>
          <a:p>
            <a:r>
              <a:rPr lang="en-US" sz="4800" dirty="0"/>
              <a:t>DATA DICTIONARY</a:t>
            </a:r>
            <a:endParaRPr lang="en-IN" sz="4800" dirty="0"/>
          </a:p>
        </p:txBody>
      </p:sp>
    </p:spTree>
    <p:extLst>
      <p:ext uri="{BB962C8B-B14F-4D97-AF65-F5344CB8AC3E}">
        <p14:creationId xmlns:p14="http://schemas.microsoft.com/office/powerpoint/2010/main" val="24423170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C3E6A514-7753-FD7E-3540-64B55AB92139}"/>
              </a:ext>
            </a:extLst>
          </p:cNvPr>
          <p:cNvPicPr>
            <a:picLocks noChangeAspect="1"/>
          </p:cNvPicPr>
          <p:nvPr/>
        </p:nvPicPr>
        <p:blipFill>
          <a:blip r:embed="rId2"/>
          <a:stretch>
            <a:fillRect/>
          </a:stretch>
        </p:blipFill>
        <p:spPr>
          <a:xfrm>
            <a:off x="2384981" y="117680"/>
            <a:ext cx="7258640" cy="5887194"/>
          </a:xfrm>
          <a:prstGeom prst="rect">
            <a:avLst/>
          </a:prstGeom>
        </p:spPr>
      </p:pic>
    </p:spTree>
    <p:extLst>
      <p:ext uri="{BB962C8B-B14F-4D97-AF65-F5344CB8AC3E}">
        <p14:creationId xmlns:p14="http://schemas.microsoft.com/office/powerpoint/2010/main" val="5419469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0864098-168F-C3A3-8FEA-B28D4AB4592F}"/>
              </a:ext>
            </a:extLst>
          </p:cNvPr>
          <p:cNvPicPr>
            <a:picLocks noChangeAspect="1"/>
          </p:cNvPicPr>
          <p:nvPr/>
        </p:nvPicPr>
        <p:blipFill>
          <a:blip r:embed="rId2"/>
          <a:stretch>
            <a:fillRect/>
          </a:stretch>
        </p:blipFill>
        <p:spPr>
          <a:xfrm>
            <a:off x="2799761" y="113123"/>
            <a:ext cx="6410227" cy="815920"/>
          </a:xfrm>
          <a:prstGeom prst="rect">
            <a:avLst/>
          </a:prstGeom>
        </p:spPr>
      </p:pic>
      <p:pic>
        <p:nvPicPr>
          <p:cNvPr id="3" name="Picture 2">
            <a:extLst>
              <a:ext uri="{FF2B5EF4-FFF2-40B4-BE49-F238E27FC236}">
                <a16:creationId xmlns:a16="http://schemas.microsoft.com/office/drawing/2014/main" id="{D22666AD-5F3C-7BFA-874A-42E3BEB7F431}"/>
              </a:ext>
            </a:extLst>
          </p:cNvPr>
          <p:cNvPicPr>
            <a:picLocks noChangeAspect="1"/>
          </p:cNvPicPr>
          <p:nvPr/>
        </p:nvPicPr>
        <p:blipFill>
          <a:blip r:embed="rId3"/>
          <a:stretch>
            <a:fillRect/>
          </a:stretch>
        </p:blipFill>
        <p:spPr>
          <a:xfrm>
            <a:off x="2799761" y="929042"/>
            <a:ext cx="6410227" cy="5072312"/>
          </a:xfrm>
          <a:prstGeom prst="rect">
            <a:avLst/>
          </a:prstGeom>
        </p:spPr>
      </p:pic>
    </p:spTree>
    <p:extLst>
      <p:ext uri="{BB962C8B-B14F-4D97-AF65-F5344CB8AC3E}">
        <p14:creationId xmlns:p14="http://schemas.microsoft.com/office/powerpoint/2010/main" val="37865600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2A502D8-DED8-B837-110F-AE47E11776AC}"/>
              </a:ext>
            </a:extLst>
          </p:cNvPr>
          <p:cNvPicPr>
            <a:picLocks noChangeAspect="1"/>
          </p:cNvPicPr>
          <p:nvPr/>
        </p:nvPicPr>
        <p:blipFill>
          <a:blip r:embed="rId2"/>
          <a:stretch>
            <a:fillRect/>
          </a:stretch>
        </p:blipFill>
        <p:spPr>
          <a:xfrm>
            <a:off x="1789718" y="3073138"/>
            <a:ext cx="8353521" cy="1658520"/>
          </a:xfrm>
          <a:prstGeom prst="rect">
            <a:avLst/>
          </a:prstGeom>
        </p:spPr>
      </p:pic>
      <p:pic>
        <p:nvPicPr>
          <p:cNvPr id="7" name="Picture 6">
            <a:extLst>
              <a:ext uri="{FF2B5EF4-FFF2-40B4-BE49-F238E27FC236}">
                <a16:creationId xmlns:a16="http://schemas.microsoft.com/office/drawing/2014/main" id="{164EF2D7-ABE5-FB9C-7AAC-8C4D18E6CF42}"/>
              </a:ext>
            </a:extLst>
          </p:cNvPr>
          <p:cNvPicPr>
            <a:picLocks noChangeAspect="1"/>
          </p:cNvPicPr>
          <p:nvPr/>
        </p:nvPicPr>
        <p:blipFill>
          <a:blip r:embed="rId3"/>
          <a:stretch>
            <a:fillRect/>
          </a:stretch>
        </p:blipFill>
        <p:spPr>
          <a:xfrm>
            <a:off x="1789719" y="833995"/>
            <a:ext cx="8353522" cy="2323985"/>
          </a:xfrm>
          <a:prstGeom prst="rect">
            <a:avLst/>
          </a:prstGeom>
        </p:spPr>
      </p:pic>
    </p:spTree>
    <p:extLst>
      <p:ext uri="{BB962C8B-B14F-4D97-AF65-F5344CB8AC3E}">
        <p14:creationId xmlns:p14="http://schemas.microsoft.com/office/powerpoint/2010/main" val="13727784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E0780A-F4EE-FFA0-5705-3508204FCE84}"/>
              </a:ext>
            </a:extLst>
          </p:cNvPr>
          <p:cNvSpPr>
            <a:spLocks noGrp="1"/>
          </p:cNvSpPr>
          <p:nvPr>
            <p:ph type="title"/>
          </p:nvPr>
        </p:nvSpPr>
        <p:spPr/>
        <p:txBody>
          <a:bodyPr/>
          <a:lstStyle/>
          <a:p>
            <a:r>
              <a:rPr lang="en-US" dirty="0"/>
              <a:t>DDL COMMANDS</a:t>
            </a:r>
            <a:endParaRPr lang="en-IN" dirty="0"/>
          </a:p>
        </p:txBody>
      </p:sp>
      <p:pic>
        <p:nvPicPr>
          <p:cNvPr id="6" name="Content Placeholder 5">
            <a:extLst>
              <a:ext uri="{FF2B5EF4-FFF2-40B4-BE49-F238E27FC236}">
                <a16:creationId xmlns:a16="http://schemas.microsoft.com/office/drawing/2014/main" id="{205A3866-FFAD-5F7A-542B-732A736AC23E}"/>
              </a:ext>
            </a:extLst>
          </p:cNvPr>
          <p:cNvPicPr>
            <a:picLocks noGrp="1" noChangeAspect="1"/>
          </p:cNvPicPr>
          <p:nvPr>
            <p:ph idx="1"/>
          </p:nvPr>
        </p:nvPicPr>
        <p:blipFill>
          <a:blip r:embed="rId2"/>
          <a:stretch>
            <a:fillRect/>
          </a:stretch>
        </p:blipFill>
        <p:spPr>
          <a:xfrm>
            <a:off x="2413262" y="2013534"/>
            <a:ext cx="7418895" cy="1531753"/>
          </a:xfrm>
        </p:spPr>
      </p:pic>
      <p:pic>
        <p:nvPicPr>
          <p:cNvPr id="10" name="Picture 9">
            <a:extLst>
              <a:ext uri="{FF2B5EF4-FFF2-40B4-BE49-F238E27FC236}">
                <a16:creationId xmlns:a16="http://schemas.microsoft.com/office/drawing/2014/main" id="{D2CEA3AF-527D-F842-6DCB-64E90B263A43}"/>
              </a:ext>
            </a:extLst>
          </p:cNvPr>
          <p:cNvPicPr>
            <a:picLocks noChangeAspect="1"/>
          </p:cNvPicPr>
          <p:nvPr/>
        </p:nvPicPr>
        <p:blipFill>
          <a:blip r:embed="rId3"/>
          <a:stretch>
            <a:fillRect/>
          </a:stretch>
        </p:blipFill>
        <p:spPr>
          <a:xfrm>
            <a:off x="6345089" y="3802192"/>
            <a:ext cx="5761219" cy="2180265"/>
          </a:xfrm>
          <a:prstGeom prst="rect">
            <a:avLst/>
          </a:prstGeom>
        </p:spPr>
      </p:pic>
      <p:pic>
        <p:nvPicPr>
          <p:cNvPr id="12" name="Picture 11">
            <a:extLst>
              <a:ext uri="{FF2B5EF4-FFF2-40B4-BE49-F238E27FC236}">
                <a16:creationId xmlns:a16="http://schemas.microsoft.com/office/drawing/2014/main" id="{E845F160-D2E0-15BF-8575-AA23EB9E04CA}"/>
              </a:ext>
            </a:extLst>
          </p:cNvPr>
          <p:cNvPicPr>
            <a:picLocks noChangeAspect="1"/>
          </p:cNvPicPr>
          <p:nvPr/>
        </p:nvPicPr>
        <p:blipFill>
          <a:blip r:embed="rId4"/>
          <a:stretch>
            <a:fillRect/>
          </a:stretch>
        </p:blipFill>
        <p:spPr>
          <a:xfrm>
            <a:off x="365263" y="3802192"/>
            <a:ext cx="5730737" cy="2180265"/>
          </a:xfrm>
          <a:prstGeom prst="rect">
            <a:avLst/>
          </a:prstGeom>
        </p:spPr>
      </p:pic>
    </p:spTree>
    <p:extLst>
      <p:ext uri="{BB962C8B-B14F-4D97-AF65-F5344CB8AC3E}">
        <p14:creationId xmlns:p14="http://schemas.microsoft.com/office/powerpoint/2010/main" val="7508719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E0780A-F4EE-FFA0-5705-3508204FCE84}"/>
              </a:ext>
            </a:extLst>
          </p:cNvPr>
          <p:cNvSpPr>
            <a:spLocks noGrp="1"/>
          </p:cNvSpPr>
          <p:nvPr>
            <p:ph type="title"/>
          </p:nvPr>
        </p:nvSpPr>
        <p:spPr/>
        <p:txBody>
          <a:bodyPr/>
          <a:lstStyle/>
          <a:p>
            <a:r>
              <a:rPr lang="en-US" dirty="0"/>
              <a:t>DML COMMANDS</a:t>
            </a:r>
            <a:endParaRPr lang="en-IN" dirty="0"/>
          </a:p>
        </p:txBody>
      </p:sp>
      <p:pic>
        <p:nvPicPr>
          <p:cNvPr id="7" name="Picture 6">
            <a:extLst>
              <a:ext uri="{FF2B5EF4-FFF2-40B4-BE49-F238E27FC236}">
                <a16:creationId xmlns:a16="http://schemas.microsoft.com/office/drawing/2014/main" id="{F7DB3DC4-ED47-1526-8661-485AF7CD3ACE}"/>
              </a:ext>
            </a:extLst>
          </p:cNvPr>
          <p:cNvPicPr>
            <a:picLocks noChangeAspect="1"/>
          </p:cNvPicPr>
          <p:nvPr/>
        </p:nvPicPr>
        <p:blipFill>
          <a:blip r:embed="rId2"/>
          <a:stretch>
            <a:fillRect/>
          </a:stretch>
        </p:blipFill>
        <p:spPr>
          <a:xfrm>
            <a:off x="6364355" y="3880893"/>
            <a:ext cx="5598350" cy="1867062"/>
          </a:xfrm>
          <a:prstGeom prst="rect">
            <a:avLst/>
          </a:prstGeom>
        </p:spPr>
      </p:pic>
      <p:pic>
        <p:nvPicPr>
          <p:cNvPr id="9" name="Picture 8">
            <a:extLst>
              <a:ext uri="{FF2B5EF4-FFF2-40B4-BE49-F238E27FC236}">
                <a16:creationId xmlns:a16="http://schemas.microsoft.com/office/drawing/2014/main" id="{F3B7294B-D341-02C9-77A8-1DCDC8D20973}"/>
              </a:ext>
            </a:extLst>
          </p:cNvPr>
          <p:cNvPicPr>
            <a:picLocks noChangeAspect="1"/>
          </p:cNvPicPr>
          <p:nvPr/>
        </p:nvPicPr>
        <p:blipFill>
          <a:blip r:embed="rId3"/>
          <a:stretch>
            <a:fillRect/>
          </a:stretch>
        </p:blipFill>
        <p:spPr>
          <a:xfrm>
            <a:off x="410987" y="3880893"/>
            <a:ext cx="5685013" cy="1867062"/>
          </a:xfrm>
          <a:prstGeom prst="rect">
            <a:avLst/>
          </a:prstGeom>
        </p:spPr>
      </p:pic>
      <p:pic>
        <p:nvPicPr>
          <p:cNvPr id="13" name="Content Placeholder 12">
            <a:extLst>
              <a:ext uri="{FF2B5EF4-FFF2-40B4-BE49-F238E27FC236}">
                <a16:creationId xmlns:a16="http://schemas.microsoft.com/office/drawing/2014/main" id="{B5392932-14E6-92F8-9F82-EC20F835ABCA}"/>
              </a:ext>
            </a:extLst>
          </p:cNvPr>
          <p:cNvPicPr>
            <a:picLocks noGrp="1" noChangeAspect="1"/>
          </p:cNvPicPr>
          <p:nvPr>
            <p:ph idx="1"/>
          </p:nvPr>
        </p:nvPicPr>
        <p:blipFill>
          <a:blip r:embed="rId4"/>
          <a:stretch>
            <a:fillRect/>
          </a:stretch>
        </p:blipFill>
        <p:spPr>
          <a:xfrm>
            <a:off x="3104890" y="2298868"/>
            <a:ext cx="6057964" cy="1356478"/>
          </a:xfrm>
        </p:spPr>
      </p:pic>
    </p:spTree>
    <p:extLst>
      <p:ext uri="{BB962C8B-B14F-4D97-AF65-F5344CB8AC3E}">
        <p14:creationId xmlns:p14="http://schemas.microsoft.com/office/powerpoint/2010/main" val="5555985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E0780A-F4EE-FFA0-5705-3508204FCE84}"/>
              </a:ext>
            </a:extLst>
          </p:cNvPr>
          <p:cNvSpPr>
            <a:spLocks noGrp="1"/>
          </p:cNvSpPr>
          <p:nvPr>
            <p:ph type="title"/>
          </p:nvPr>
        </p:nvSpPr>
        <p:spPr/>
        <p:txBody>
          <a:bodyPr/>
          <a:lstStyle/>
          <a:p>
            <a:r>
              <a:rPr lang="en-US" dirty="0"/>
              <a:t>OPERATIONAL QUERIES</a:t>
            </a:r>
            <a:endParaRPr lang="en-IN" dirty="0"/>
          </a:p>
        </p:txBody>
      </p:sp>
      <p:sp>
        <p:nvSpPr>
          <p:cNvPr id="4" name="Content Placeholder 3">
            <a:extLst>
              <a:ext uri="{FF2B5EF4-FFF2-40B4-BE49-F238E27FC236}">
                <a16:creationId xmlns:a16="http://schemas.microsoft.com/office/drawing/2014/main" id="{A31B9F89-39F2-5593-8896-F4AD285D1399}"/>
              </a:ext>
            </a:extLst>
          </p:cNvPr>
          <p:cNvSpPr>
            <a:spLocks noGrp="1"/>
          </p:cNvSpPr>
          <p:nvPr>
            <p:ph idx="1"/>
          </p:nvPr>
        </p:nvSpPr>
        <p:spPr/>
        <p:txBody>
          <a:bodyPr/>
          <a:lstStyle/>
          <a:p>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1)Query to Retrieve Patients with a Specific Disease:</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pic>
        <p:nvPicPr>
          <p:cNvPr id="5" name="Picture 4">
            <a:extLst>
              <a:ext uri="{FF2B5EF4-FFF2-40B4-BE49-F238E27FC236}">
                <a16:creationId xmlns:a16="http://schemas.microsoft.com/office/drawing/2014/main" id="{FEC2D7A1-253D-9012-4C2C-850D2902C963}"/>
              </a:ext>
            </a:extLst>
          </p:cNvPr>
          <p:cNvPicPr>
            <a:picLocks noChangeAspect="1"/>
          </p:cNvPicPr>
          <p:nvPr/>
        </p:nvPicPr>
        <p:blipFill>
          <a:blip r:embed="rId2"/>
          <a:stretch>
            <a:fillRect/>
          </a:stretch>
        </p:blipFill>
        <p:spPr>
          <a:xfrm>
            <a:off x="1731382" y="2559937"/>
            <a:ext cx="7902811" cy="3068385"/>
          </a:xfrm>
          <a:prstGeom prst="rect">
            <a:avLst/>
          </a:prstGeom>
        </p:spPr>
      </p:pic>
    </p:spTree>
    <p:extLst>
      <p:ext uri="{BB962C8B-B14F-4D97-AF65-F5344CB8AC3E}">
        <p14:creationId xmlns:p14="http://schemas.microsoft.com/office/powerpoint/2010/main" val="14019189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E0780A-F4EE-FFA0-5705-3508204FCE84}"/>
              </a:ext>
            </a:extLst>
          </p:cNvPr>
          <p:cNvSpPr>
            <a:spLocks noGrp="1"/>
          </p:cNvSpPr>
          <p:nvPr>
            <p:ph type="title"/>
          </p:nvPr>
        </p:nvSpPr>
        <p:spPr/>
        <p:txBody>
          <a:bodyPr/>
          <a:lstStyle/>
          <a:p>
            <a:r>
              <a:rPr lang="en-US" dirty="0"/>
              <a:t>OPERATIONAL QUERIES</a:t>
            </a:r>
            <a:endParaRPr lang="en-IN" dirty="0"/>
          </a:p>
        </p:txBody>
      </p:sp>
      <p:sp>
        <p:nvSpPr>
          <p:cNvPr id="4" name="Content Placeholder 3">
            <a:extLst>
              <a:ext uri="{FF2B5EF4-FFF2-40B4-BE49-F238E27FC236}">
                <a16:creationId xmlns:a16="http://schemas.microsoft.com/office/drawing/2014/main" id="{A31B9F89-39F2-5593-8896-F4AD285D1399}"/>
              </a:ext>
            </a:extLst>
          </p:cNvPr>
          <p:cNvSpPr>
            <a:spLocks noGrp="1"/>
          </p:cNvSpPr>
          <p:nvPr>
            <p:ph idx="1"/>
          </p:nvPr>
        </p:nvSpPr>
        <p:spPr/>
        <p:txBody>
          <a:bodyPr/>
          <a:lstStyle/>
          <a:p>
            <a:pPr>
              <a:lnSpc>
                <a:spcPct val="107000"/>
              </a:lnSpc>
              <a:spcAft>
                <a:spcPts val="800"/>
              </a:spcAft>
            </a:pPr>
            <a:r>
              <a:rPr lang="en-IN" sz="1800" b="1" kern="100" dirty="0">
                <a:latin typeface="Times New Roman" panose="02020603050405020304" pitchFamily="18" charset="0"/>
                <a:ea typeface="Calibri" panose="020F0502020204030204" pitchFamily="34" charset="0"/>
                <a:cs typeface="Times New Roman" panose="02020603050405020304" pitchFamily="18" charset="0"/>
              </a:rPr>
              <a:t>2</a:t>
            </a: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 Find Hospitals in a Specific Location:</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pic>
        <p:nvPicPr>
          <p:cNvPr id="7" name="Picture 6">
            <a:extLst>
              <a:ext uri="{FF2B5EF4-FFF2-40B4-BE49-F238E27FC236}">
                <a16:creationId xmlns:a16="http://schemas.microsoft.com/office/drawing/2014/main" id="{97A42A9E-6DF3-889E-7053-A7A4FF58D0AD}"/>
              </a:ext>
            </a:extLst>
          </p:cNvPr>
          <p:cNvPicPr>
            <a:picLocks noChangeAspect="1"/>
          </p:cNvPicPr>
          <p:nvPr/>
        </p:nvPicPr>
        <p:blipFill>
          <a:blip r:embed="rId2"/>
          <a:stretch>
            <a:fillRect/>
          </a:stretch>
        </p:blipFill>
        <p:spPr>
          <a:xfrm>
            <a:off x="1527142" y="2366680"/>
            <a:ext cx="9527711" cy="3686801"/>
          </a:xfrm>
          <a:prstGeom prst="rect">
            <a:avLst/>
          </a:prstGeom>
        </p:spPr>
      </p:pic>
    </p:spTree>
    <p:extLst>
      <p:ext uri="{BB962C8B-B14F-4D97-AF65-F5344CB8AC3E}">
        <p14:creationId xmlns:p14="http://schemas.microsoft.com/office/powerpoint/2010/main" val="36757653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E0780A-F4EE-FFA0-5705-3508204FCE84}"/>
              </a:ext>
            </a:extLst>
          </p:cNvPr>
          <p:cNvSpPr>
            <a:spLocks noGrp="1"/>
          </p:cNvSpPr>
          <p:nvPr>
            <p:ph type="title"/>
          </p:nvPr>
        </p:nvSpPr>
        <p:spPr>
          <a:xfrm>
            <a:off x="659727" y="106936"/>
            <a:ext cx="9603275" cy="562368"/>
          </a:xfrm>
        </p:spPr>
        <p:txBody>
          <a:bodyPr/>
          <a:lstStyle/>
          <a:p>
            <a:r>
              <a:rPr lang="en-US" dirty="0"/>
              <a:t>REPORTS</a:t>
            </a:r>
            <a:endParaRPr lang="en-IN" dirty="0"/>
          </a:p>
        </p:txBody>
      </p:sp>
      <p:sp>
        <p:nvSpPr>
          <p:cNvPr id="4" name="Content Placeholder 3">
            <a:extLst>
              <a:ext uri="{FF2B5EF4-FFF2-40B4-BE49-F238E27FC236}">
                <a16:creationId xmlns:a16="http://schemas.microsoft.com/office/drawing/2014/main" id="{A31B9F89-39F2-5593-8896-F4AD285D1399}"/>
              </a:ext>
            </a:extLst>
          </p:cNvPr>
          <p:cNvSpPr>
            <a:spLocks noGrp="1"/>
          </p:cNvSpPr>
          <p:nvPr>
            <p:ph idx="1"/>
          </p:nvPr>
        </p:nvSpPr>
        <p:spPr>
          <a:xfrm>
            <a:off x="320362" y="592285"/>
            <a:ext cx="11340595" cy="5931063"/>
          </a:xfrm>
        </p:spPr>
        <p:txBody>
          <a:bodyPr/>
          <a:lstStyle/>
          <a:p>
            <a:pPr marL="0" indent="0">
              <a:buNone/>
            </a:pPr>
            <a:r>
              <a:rPr lang="en-US" dirty="0"/>
              <a:t>1) Report on disease frequency by location:</a:t>
            </a:r>
          </a:p>
          <a:p>
            <a:endParaRPr lang="en-IN" dirty="0"/>
          </a:p>
        </p:txBody>
      </p:sp>
      <p:pic>
        <p:nvPicPr>
          <p:cNvPr id="5" name="Picture 4">
            <a:extLst>
              <a:ext uri="{FF2B5EF4-FFF2-40B4-BE49-F238E27FC236}">
                <a16:creationId xmlns:a16="http://schemas.microsoft.com/office/drawing/2014/main" id="{12DA99D3-CA34-85A5-373C-9B84FC50FA89}"/>
              </a:ext>
            </a:extLst>
          </p:cNvPr>
          <p:cNvPicPr>
            <a:picLocks noChangeAspect="1"/>
          </p:cNvPicPr>
          <p:nvPr/>
        </p:nvPicPr>
        <p:blipFill>
          <a:blip r:embed="rId2"/>
          <a:stretch>
            <a:fillRect/>
          </a:stretch>
        </p:blipFill>
        <p:spPr>
          <a:xfrm>
            <a:off x="1423448" y="1131151"/>
            <a:ext cx="9690754" cy="4595698"/>
          </a:xfrm>
          <a:prstGeom prst="rect">
            <a:avLst/>
          </a:prstGeom>
        </p:spPr>
      </p:pic>
    </p:spTree>
    <p:extLst>
      <p:ext uri="{BB962C8B-B14F-4D97-AF65-F5344CB8AC3E}">
        <p14:creationId xmlns:p14="http://schemas.microsoft.com/office/powerpoint/2010/main" val="36063175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E0780A-F4EE-FFA0-5705-3508204FCE84}"/>
              </a:ext>
            </a:extLst>
          </p:cNvPr>
          <p:cNvSpPr>
            <a:spLocks noGrp="1"/>
          </p:cNvSpPr>
          <p:nvPr>
            <p:ph type="title"/>
          </p:nvPr>
        </p:nvSpPr>
        <p:spPr>
          <a:xfrm>
            <a:off x="1415265" y="914171"/>
            <a:ext cx="9603275" cy="628313"/>
          </a:xfrm>
        </p:spPr>
        <p:txBody>
          <a:bodyPr/>
          <a:lstStyle/>
          <a:p>
            <a:r>
              <a:rPr lang="en-US" dirty="0"/>
              <a:t>DIMESNIONAL MODEL</a:t>
            </a:r>
            <a:endParaRPr lang="en-IN" dirty="0"/>
          </a:p>
        </p:txBody>
      </p:sp>
      <p:sp>
        <p:nvSpPr>
          <p:cNvPr id="4" name="Content Placeholder 3">
            <a:extLst>
              <a:ext uri="{FF2B5EF4-FFF2-40B4-BE49-F238E27FC236}">
                <a16:creationId xmlns:a16="http://schemas.microsoft.com/office/drawing/2014/main" id="{A31B9F89-39F2-5593-8896-F4AD285D1399}"/>
              </a:ext>
            </a:extLst>
          </p:cNvPr>
          <p:cNvSpPr>
            <a:spLocks noGrp="1"/>
          </p:cNvSpPr>
          <p:nvPr>
            <p:ph idx="1"/>
          </p:nvPr>
        </p:nvSpPr>
        <p:spPr>
          <a:xfrm>
            <a:off x="1415265" y="2073897"/>
            <a:ext cx="10622764" cy="3354741"/>
          </a:xfrm>
        </p:spPr>
        <p:txBody>
          <a:bodyPr>
            <a:normAutofit/>
          </a:bodyPr>
          <a:lstStyle/>
          <a:p>
            <a:r>
              <a:rPr lang="en-IN" dirty="0"/>
              <a:t> Identifying the business processes:</a:t>
            </a:r>
          </a:p>
          <a:p>
            <a:r>
              <a:rPr lang="en-IN" dirty="0"/>
              <a:t>Disease Diagnosis: Captures each instance of disease diagnosis.</a:t>
            </a:r>
          </a:p>
          <a:p>
            <a:r>
              <a:rPr lang="en-IN" dirty="0"/>
              <a:t>Treatment Administration: Records details of treatments provided to patients, tracking the administration and outcomes of these treatments.</a:t>
            </a:r>
          </a:p>
          <a:p>
            <a:pPr marL="0" indent="0">
              <a:buNone/>
            </a:pPr>
            <a:endParaRPr lang="en-IN" dirty="0"/>
          </a:p>
        </p:txBody>
      </p:sp>
    </p:spTree>
    <p:extLst>
      <p:ext uri="{BB962C8B-B14F-4D97-AF65-F5344CB8AC3E}">
        <p14:creationId xmlns:p14="http://schemas.microsoft.com/office/powerpoint/2010/main" val="8488212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E0780A-F4EE-FFA0-5705-3508204FCE84}"/>
              </a:ext>
            </a:extLst>
          </p:cNvPr>
          <p:cNvSpPr>
            <a:spLocks noGrp="1"/>
          </p:cNvSpPr>
          <p:nvPr>
            <p:ph type="title"/>
          </p:nvPr>
        </p:nvSpPr>
        <p:spPr>
          <a:xfrm>
            <a:off x="1530032" y="961305"/>
            <a:ext cx="9603275" cy="628313"/>
          </a:xfrm>
        </p:spPr>
        <p:txBody>
          <a:bodyPr/>
          <a:lstStyle/>
          <a:p>
            <a:r>
              <a:rPr lang="en-US" dirty="0"/>
              <a:t>DIMESNIONAL MODEL</a:t>
            </a:r>
            <a:endParaRPr lang="en-IN" dirty="0"/>
          </a:p>
        </p:txBody>
      </p:sp>
      <p:sp>
        <p:nvSpPr>
          <p:cNvPr id="4" name="Content Placeholder 3">
            <a:extLst>
              <a:ext uri="{FF2B5EF4-FFF2-40B4-BE49-F238E27FC236}">
                <a16:creationId xmlns:a16="http://schemas.microsoft.com/office/drawing/2014/main" id="{A31B9F89-39F2-5593-8896-F4AD285D1399}"/>
              </a:ext>
            </a:extLst>
          </p:cNvPr>
          <p:cNvSpPr>
            <a:spLocks noGrp="1"/>
          </p:cNvSpPr>
          <p:nvPr>
            <p:ph idx="1"/>
          </p:nvPr>
        </p:nvSpPr>
        <p:spPr>
          <a:xfrm>
            <a:off x="1244338" y="1998482"/>
            <a:ext cx="9888970" cy="3430156"/>
          </a:xfrm>
        </p:spPr>
        <p:txBody>
          <a:bodyPr>
            <a:normAutofit/>
          </a:bodyPr>
          <a:lstStyle/>
          <a:p>
            <a:pPr marL="0" indent="0">
              <a:buNone/>
            </a:pPr>
            <a:r>
              <a:rPr lang="en-US" dirty="0"/>
              <a:t>Defining Fact tables:</a:t>
            </a:r>
          </a:p>
          <a:p>
            <a:pPr marL="0" indent="0">
              <a:buNone/>
            </a:pPr>
            <a:r>
              <a:rPr lang="en-US" dirty="0"/>
              <a:t>1) FactDiagnosis:</a:t>
            </a:r>
          </a:p>
          <a:p>
            <a:pPr marL="0" indent="0">
              <a:buNone/>
            </a:pPr>
            <a:r>
              <a:rPr lang="en-US" dirty="0"/>
              <a:t>Purpose: Tracks each diagnosis event, providing insights into when, where and how diseases are diagnosed, linked to time, patient, disease type, and diagnostic methods used.</a:t>
            </a:r>
          </a:p>
          <a:p>
            <a:pPr marL="0" indent="0">
              <a:buNone/>
            </a:pPr>
            <a:r>
              <a:rPr lang="en-US" dirty="0"/>
              <a:t>2) FactTreatment:</a:t>
            </a:r>
          </a:p>
          <a:p>
            <a:pPr marL="0" indent="0">
              <a:buNone/>
            </a:pPr>
            <a:r>
              <a:rPr lang="en-US" dirty="0"/>
              <a:t>Purpose: Captures detailed records on treatments administered including the outcomes, and the providers involved, crucial for effectiveness and quality of care analysis.</a:t>
            </a:r>
            <a:endParaRPr lang="en-IN" dirty="0"/>
          </a:p>
        </p:txBody>
      </p:sp>
    </p:spTree>
    <p:extLst>
      <p:ext uri="{BB962C8B-B14F-4D97-AF65-F5344CB8AC3E}">
        <p14:creationId xmlns:p14="http://schemas.microsoft.com/office/powerpoint/2010/main" val="17370002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E0780A-F4EE-FFA0-5705-3508204FCE84}"/>
              </a:ext>
            </a:extLst>
          </p:cNvPr>
          <p:cNvSpPr>
            <a:spLocks noGrp="1"/>
          </p:cNvSpPr>
          <p:nvPr>
            <p:ph type="title"/>
          </p:nvPr>
        </p:nvSpPr>
        <p:spPr/>
        <p:txBody>
          <a:bodyPr/>
          <a:lstStyle/>
          <a:p>
            <a:r>
              <a:rPr lang="en-US" dirty="0"/>
              <a:t>DIMESNIONAL MODEL</a:t>
            </a:r>
            <a:endParaRPr lang="en-IN" dirty="0"/>
          </a:p>
        </p:txBody>
      </p:sp>
      <p:sp>
        <p:nvSpPr>
          <p:cNvPr id="4" name="Content Placeholder 3">
            <a:extLst>
              <a:ext uri="{FF2B5EF4-FFF2-40B4-BE49-F238E27FC236}">
                <a16:creationId xmlns:a16="http://schemas.microsoft.com/office/drawing/2014/main" id="{A31B9F89-39F2-5593-8896-F4AD285D1399}"/>
              </a:ext>
            </a:extLst>
          </p:cNvPr>
          <p:cNvSpPr>
            <a:spLocks noGrp="1"/>
          </p:cNvSpPr>
          <p:nvPr>
            <p:ph idx="1"/>
          </p:nvPr>
        </p:nvSpPr>
        <p:spPr/>
        <p:txBody>
          <a:bodyPr>
            <a:normAutofit fontScale="85000" lnSpcReduction="20000"/>
          </a:bodyPr>
          <a:lstStyle/>
          <a:p>
            <a:pPr marL="0" indent="0">
              <a:buNone/>
            </a:pPr>
            <a:r>
              <a:rPr lang="en-US" dirty="0"/>
              <a:t>Dimension Tables</a:t>
            </a:r>
          </a:p>
          <a:p>
            <a:pPr marL="0" indent="0">
              <a:buNone/>
            </a:pPr>
            <a:r>
              <a:rPr lang="en-US" dirty="0"/>
              <a:t>1) Date Dimension (DimDate):</a:t>
            </a:r>
          </a:p>
          <a:p>
            <a:pPr marL="0" indent="0">
              <a:buNone/>
            </a:pPr>
            <a:r>
              <a:rPr lang="en-US" dirty="0"/>
              <a:t>Purpose: This table provides temporal context for all events in the data warehouse, facilitating time-series analysis. This dimension helps analyze data across different timeframes.</a:t>
            </a:r>
          </a:p>
          <a:p>
            <a:pPr marL="0" indent="0">
              <a:buNone/>
            </a:pPr>
            <a:r>
              <a:rPr lang="en-US" dirty="0"/>
              <a:t>2) Patient Dimension (DimPatient):</a:t>
            </a:r>
          </a:p>
          <a:p>
            <a:pPr marL="0" indent="0">
              <a:buNone/>
            </a:pPr>
            <a:r>
              <a:rPr lang="en-US" dirty="0"/>
              <a:t>Purpose: Tracks demographic information about patients, supporting detailed patient-level analysis. Provides a comprehensive view of the patient demographics.</a:t>
            </a:r>
          </a:p>
          <a:p>
            <a:pPr marL="0" indent="0">
              <a:buNone/>
            </a:pPr>
            <a:r>
              <a:rPr lang="en-US" dirty="0"/>
              <a:t>3) Disease Dimension (DimDisease):</a:t>
            </a:r>
          </a:p>
          <a:p>
            <a:pPr marL="0" indent="0">
              <a:buNone/>
            </a:pPr>
            <a:r>
              <a:rPr lang="en-US" dirty="0"/>
              <a:t>Purpose: Facilitates analysis by disease type and category, crucial for epidemiological studies. Categorizes diseases which can be useful for specialized analytics.</a:t>
            </a:r>
          </a:p>
          <a:p>
            <a:pPr marL="0" indent="0">
              <a:buNone/>
            </a:pPr>
            <a:endParaRPr lang="en-US" dirty="0"/>
          </a:p>
        </p:txBody>
      </p:sp>
    </p:spTree>
    <p:extLst>
      <p:ext uri="{BB962C8B-B14F-4D97-AF65-F5344CB8AC3E}">
        <p14:creationId xmlns:p14="http://schemas.microsoft.com/office/powerpoint/2010/main" val="20468787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E0780A-F4EE-FFA0-5705-3508204FCE84}"/>
              </a:ext>
            </a:extLst>
          </p:cNvPr>
          <p:cNvSpPr>
            <a:spLocks noGrp="1"/>
          </p:cNvSpPr>
          <p:nvPr>
            <p:ph type="title"/>
          </p:nvPr>
        </p:nvSpPr>
        <p:spPr/>
        <p:txBody>
          <a:bodyPr/>
          <a:lstStyle/>
          <a:p>
            <a:r>
              <a:rPr lang="en-US" dirty="0"/>
              <a:t>DIMESNIONAL MODEL</a:t>
            </a:r>
            <a:endParaRPr lang="en-IN" dirty="0"/>
          </a:p>
        </p:txBody>
      </p:sp>
      <p:sp>
        <p:nvSpPr>
          <p:cNvPr id="4" name="Content Placeholder 3">
            <a:extLst>
              <a:ext uri="{FF2B5EF4-FFF2-40B4-BE49-F238E27FC236}">
                <a16:creationId xmlns:a16="http://schemas.microsoft.com/office/drawing/2014/main" id="{A31B9F89-39F2-5593-8896-F4AD285D1399}"/>
              </a:ext>
            </a:extLst>
          </p:cNvPr>
          <p:cNvSpPr>
            <a:spLocks noGrp="1"/>
          </p:cNvSpPr>
          <p:nvPr>
            <p:ph idx="1"/>
          </p:nvPr>
        </p:nvSpPr>
        <p:spPr/>
        <p:txBody>
          <a:bodyPr>
            <a:normAutofit fontScale="85000" lnSpcReduction="10000"/>
          </a:bodyPr>
          <a:lstStyle/>
          <a:p>
            <a:pPr marL="0" indent="0">
              <a:buNone/>
            </a:pPr>
            <a:r>
              <a:rPr lang="en-US" dirty="0"/>
              <a:t>4) Diagnostic Test Dimension (DimDiagnosticTest):</a:t>
            </a:r>
          </a:p>
          <a:p>
            <a:pPr marL="0" indent="0">
              <a:buNone/>
            </a:pPr>
            <a:r>
              <a:rPr lang="en-US" dirty="0"/>
              <a:t>Purpose: Provides details on diagnostic tests, aiding in the evaluation of test utilization and effectiveness. Describes the tests used in diagnostics, important for analysis of test utilization and efficacy.</a:t>
            </a:r>
          </a:p>
          <a:p>
            <a:pPr marL="0" indent="0">
              <a:buNone/>
            </a:pPr>
            <a:r>
              <a:rPr lang="en-US" dirty="0"/>
              <a:t>5) Treatment Dimension (DimTreatment):</a:t>
            </a:r>
          </a:p>
          <a:p>
            <a:pPr marL="0" indent="0">
              <a:buNone/>
            </a:pPr>
            <a:r>
              <a:rPr lang="en-US" dirty="0"/>
              <a:t>Purpose: Enables analysis of treatment patterns and their outcomes. Detailed records of treatment protocols provide insights into treatment patterns and outcomes.</a:t>
            </a:r>
          </a:p>
          <a:p>
            <a:pPr marL="0" indent="0">
              <a:buNone/>
            </a:pPr>
            <a:r>
              <a:rPr lang="en-US" dirty="0"/>
              <a:t>6) Healthcare Provider Dimension (DimHealthcareProvider):</a:t>
            </a:r>
          </a:p>
          <a:p>
            <a:pPr marL="0" indent="0">
              <a:buNone/>
            </a:pPr>
            <a:r>
              <a:rPr lang="en-US" dirty="0"/>
              <a:t>Purpose: Stores information about healthcare providers, important for performance and resource allocation analysis. Helps in analyzing performance and specialization areas of providers.</a:t>
            </a:r>
          </a:p>
          <a:p>
            <a:pPr marL="0" indent="0">
              <a:buNone/>
            </a:pPr>
            <a:endParaRPr lang="en-US" dirty="0"/>
          </a:p>
        </p:txBody>
      </p:sp>
    </p:spTree>
    <p:extLst>
      <p:ext uri="{BB962C8B-B14F-4D97-AF65-F5344CB8AC3E}">
        <p14:creationId xmlns:p14="http://schemas.microsoft.com/office/powerpoint/2010/main" val="23755290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A7629E-8548-F071-80B2-8DB14CAA4CD6}"/>
              </a:ext>
            </a:extLst>
          </p:cNvPr>
          <p:cNvSpPr>
            <a:spLocks noGrp="1"/>
          </p:cNvSpPr>
          <p:nvPr>
            <p:ph type="title"/>
          </p:nvPr>
        </p:nvSpPr>
        <p:spPr>
          <a:xfrm>
            <a:off x="461765" y="127262"/>
            <a:ext cx="9603275" cy="493520"/>
          </a:xfrm>
        </p:spPr>
        <p:txBody>
          <a:bodyPr>
            <a:normAutofit fontScale="90000"/>
          </a:bodyPr>
          <a:lstStyle/>
          <a:p>
            <a:r>
              <a:rPr lang="en-US" dirty="0"/>
              <a:t>DIMENSIONAL MODEL</a:t>
            </a:r>
            <a:endParaRPr lang="en-IN" dirty="0"/>
          </a:p>
        </p:txBody>
      </p:sp>
      <p:pic>
        <p:nvPicPr>
          <p:cNvPr id="3" name="Picture 2">
            <a:extLst>
              <a:ext uri="{FF2B5EF4-FFF2-40B4-BE49-F238E27FC236}">
                <a16:creationId xmlns:a16="http://schemas.microsoft.com/office/drawing/2014/main" id="{8AED929B-7334-E773-A06B-0C5E51B94E0B}"/>
              </a:ext>
            </a:extLst>
          </p:cNvPr>
          <p:cNvPicPr>
            <a:picLocks noChangeAspect="1"/>
          </p:cNvPicPr>
          <p:nvPr/>
        </p:nvPicPr>
        <p:blipFill rotWithShape="1">
          <a:blip r:embed="rId2"/>
          <a:srcRect r="41707"/>
          <a:stretch/>
        </p:blipFill>
        <p:spPr>
          <a:xfrm>
            <a:off x="1150070" y="791852"/>
            <a:ext cx="10510887" cy="5938886"/>
          </a:xfrm>
          <a:prstGeom prst="rect">
            <a:avLst/>
          </a:prstGeom>
        </p:spPr>
      </p:pic>
    </p:spTree>
    <p:extLst>
      <p:ext uri="{BB962C8B-B14F-4D97-AF65-F5344CB8AC3E}">
        <p14:creationId xmlns:p14="http://schemas.microsoft.com/office/powerpoint/2010/main" val="10513281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1CF03-2BF8-B0D5-13A3-62E3D235861E}"/>
              </a:ext>
            </a:extLst>
          </p:cNvPr>
          <p:cNvSpPr>
            <a:spLocks noGrp="1"/>
          </p:cNvSpPr>
          <p:nvPr>
            <p:ph type="title"/>
          </p:nvPr>
        </p:nvSpPr>
        <p:spPr>
          <a:xfrm>
            <a:off x="1036799" y="719679"/>
            <a:ext cx="9603275" cy="769756"/>
          </a:xfrm>
        </p:spPr>
        <p:txBody>
          <a:bodyPr/>
          <a:lstStyle/>
          <a:p>
            <a:r>
              <a:rPr lang="en-US" dirty="0"/>
              <a:t>Setting up data warehouse – ETL Process</a:t>
            </a:r>
            <a:endParaRPr lang="en-IN" dirty="0"/>
          </a:p>
        </p:txBody>
      </p:sp>
      <p:sp>
        <p:nvSpPr>
          <p:cNvPr id="3" name="Content Placeholder 2">
            <a:extLst>
              <a:ext uri="{FF2B5EF4-FFF2-40B4-BE49-F238E27FC236}">
                <a16:creationId xmlns:a16="http://schemas.microsoft.com/office/drawing/2014/main" id="{7DDC5F71-A28E-51CF-AB01-5BAD62EBFC5E}"/>
              </a:ext>
            </a:extLst>
          </p:cNvPr>
          <p:cNvSpPr>
            <a:spLocks noGrp="1"/>
          </p:cNvSpPr>
          <p:nvPr>
            <p:ph idx="1"/>
          </p:nvPr>
        </p:nvSpPr>
        <p:spPr>
          <a:xfrm>
            <a:off x="857690" y="1940317"/>
            <a:ext cx="10256512" cy="3866594"/>
          </a:xfrm>
        </p:spPr>
        <p:txBody>
          <a:bodyPr/>
          <a:lstStyle/>
          <a:p>
            <a:pPr marL="0" indent="0">
              <a:buNone/>
            </a:pPr>
            <a:endParaRPr lang="en-IN" dirty="0"/>
          </a:p>
        </p:txBody>
      </p:sp>
      <p:pic>
        <p:nvPicPr>
          <p:cNvPr id="5" name="Picture 4">
            <a:extLst>
              <a:ext uri="{FF2B5EF4-FFF2-40B4-BE49-F238E27FC236}">
                <a16:creationId xmlns:a16="http://schemas.microsoft.com/office/drawing/2014/main" id="{F94EB68B-53BC-D084-A8F7-DCF27C1F7204}"/>
              </a:ext>
            </a:extLst>
          </p:cNvPr>
          <p:cNvPicPr>
            <a:picLocks noChangeAspect="1"/>
          </p:cNvPicPr>
          <p:nvPr/>
        </p:nvPicPr>
        <p:blipFill rotWithShape="1">
          <a:blip r:embed="rId2"/>
          <a:srcRect r="45145"/>
          <a:stretch/>
        </p:blipFill>
        <p:spPr>
          <a:xfrm>
            <a:off x="235521" y="1940317"/>
            <a:ext cx="4675844" cy="2659963"/>
          </a:xfrm>
          <a:prstGeom prst="rect">
            <a:avLst/>
          </a:prstGeom>
        </p:spPr>
      </p:pic>
      <p:pic>
        <p:nvPicPr>
          <p:cNvPr id="7" name="Picture 6">
            <a:extLst>
              <a:ext uri="{FF2B5EF4-FFF2-40B4-BE49-F238E27FC236}">
                <a16:creationId xmlns:a16="http://schemas.microsoft.com/office/drawing/2014/main" id="{75B2B5A1-8E68-FA01-97F9-C634C5078142}"/>
              </a:ext>
            </a:extLst>
          </p:cNvPr>
          <p:cNvPicPr>
            <a:picLocks noChangeAspect="1"/>
          </p:cNvPicPr>
          <p:nvPr/>
        </p:nvPicPr>
        <p:blipFill>
          <a:blip r:embed="rId3"/>
          <a:stretch>
            <a:fillRect/>
          </a:stretch>
        </p:blipFill>
        <p:spPr>
          <a:xfrm>
            <a:off x="5010912" y="3429000"/>
            <a:ext cx="6103290" cy="2152738"/>
          </a:xfrm>
          <a:prstGeom prst="rect">
            <a:avLst/>
          </a:prstGeom>
        </p:spPr>
      </p:pic>
    </p:spTree>
    <p:extLst>
      <p:ext uri="{BB962C8B-B14F-4D97-AF65-F5344CB8AC3E}">
        <p14:creationId xmlns:p14="http://schemas.microsoft.com/office/powerpoint/2010/main" val="864424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1CF03-2BF8-B0D5-13A3-62E3D235861E}"/>
              </a:ext>
            </a:extLst>
          </p:cNvPr>
          <p:cNvSpPr>
            <a:spLocks noGrp="1"/>
          </p:cNvSpPr>
          <p:nvPr>
            <p:ph type="title"/>
          </p:nvPr>
        </p:nvSpPr>
        <p:spPr>
          <a:xfrm>
            <a:off x="1036799" y="719679"/>
            <a:ext cx="9603275" cy="769756"/>
          </a:xfrm>
        </p:spPr>
        <p:txBody>
          <a:bodyPr/>
          <a:lstStyle/>
          <a:p>
            <a:r>
              <a:rPr lang="en-US" dirty="0"/>
              <a:t>Analytical queries</a:t>
            </a:r>
            <a:endParaRPr lang="en-IN" dirty="0"/>
          </a:p>
        </p:txBody>
      </p:sp>
      <p:sp>
        <p:nvSpPr>
          <p:cNvPr id="3" name="Content Placeholder 2">
            <a:extLst>
              <a:ext uri="{FF2B5EF4-FFF2-40B4-BE49-F238E27FC236}">
                <a16:creationId xmlns:a16="http://schemas.microsoft.com/office/drawing/2014/main" id="{7DDC5F71-A28E-51CF-AB01-5BAD62EBFC5E}"/>
              </a:ext>
            </a:extLst>
          </p:cNvPr>
          <p:cNvSpPr>
            <a:spLocks noGrp="1"/>
          </p:cNvSpPr>
          <p:nvPr>
            <p:ph idx="1"/>
          </p:nvPr>
        </p:nvSpPr>
        <p:spPr>
          <a:xfrm>
            <a:off x="885970" y="1949744"/>
            <a:ext cx="10256512" cy="3866594"/>
          </a:xfrm>
        </p:spPr>
        <p:txBody>
          <a:bodyPr/>
          <a:lstStyle/>
          <a:p>
            <a:pPr marL="0" indent="0">
              <a:buNone/>
            </a:pPr>
            <a:r>
              <a:rPr lang="en-US" dirty="0"/>
              <a:t>1) Disease Incidence by Age Group and Gender :</a:t>
            </a:r>
            <a:endParaRPr lang="en-IN" dirty="0"/>
          </a:p>
        </p:txBody>
      </p:sp>
      <p:pic>
        <p:nvPicPr>
          <p:cNvPr id="4" name="Picture 3">
            <a:extLst>
              <a:ext uri="{FF2B5EF4-FFF2-40B4-BE49-F238E27FC236}">
                <a16:creationId xmlns:a16="http://schemas.microsoft.com/office/drawing/2014/main" id="{218F61F8-63AC-22D8-FF14-9C1C996C0537}"/>
              </a:ext>
            </a:extLst>
          </p:cNvPr>
          <p:cNvPicPr>
            <a:picLocks noChangeAspect="1"/>
          </p:cNvPicPr>
          <p:nvPr/>
        </p:nvPicPr>
        <p:blipFill rotWithShape="1">
          <a:blip r:embed="rId2"/>
          <a:srcRect r="38828"/>
          <a:stretch/>
        </p:blipFill>
        <p:spPr>
          <a:xfrm>
            <a:off x="2014186" y="2469823"/>
            <a:ext cx="7572873" cy="4279770"/>
          </a:xfrm>
          <a:prstGeom prst="rect">
            <a:avLst/>
          </a:prstGeom>
        </p:spPr>
      </p:pic>
    </p:spTree>
    <p:extLst>
      <p:ext uri="{BB962C8B-B14F-4D97-AF65-F5344CB8AC3E}">
        <p14:creationId xmlns:p14="http://schemas.microsoft.com/office/powerpoint/2010/main" val="36963551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1CF03-2BF8-B0D5-13A3-62E3D235861E}"/>
              </a:ext>
            </a:extLst>
          </p:cNvPr>
          <p:cNvSpPr>
            <a:spLocks noGrp="1"/>
          </p:cNvSpPr>
          <p:nvPr>
            <p:ph type="title"/>
          </p:nvPr>
        </p:nvSpPr>
        <p:spPr>
          <a:xfrm>
            <a:off x="1486039" y="719679"/>
            <a:ext cx="9603275" cy="769756"/>
          </a:xfrm>
        </p:spPr>
        <p:txBody>
          <a:bodyPr/>
          <a:lstStyle/>
          <a:p>
            <a:r>
              <a:rPr lang="en-US" dirty="0"/>
              <a:t>No SQL and Relational Contrast:</a:t>
            </a:r>
            <a:endParaRPr lang="en-IN" dirty="0"/>
          </a:p>
        </p:txBody>
      </p:sp>
      <p:pic>
        <p:nvPicPr>
          <p:cNvPr id="6" name="Content Placeholder 5">
            <a:extLst>
              <a:ext uri="{FF2B5EF4-FFF2-40B4-BE49-F238E27FC236}">
                <a16:creationId xmlns:a16="http://schemas.microsoft.com/office/drawing/2014/main" id="{D0B0D552-EE53-B2D6-81BC-39C0BE099ABD}"/>
              </a:ext>
            </a:extLst>
          </p:cNvPr>
          <p:cNvPicPr>
            <a:picLocks noGrp="1" noChangeAspect="1"/>
          </p:cNvPicPr>
          <p:nvPr>
            <p:ph idx="1"/>
          </p:nvPr>
        </p:nvPicPr>
        <p:blipFill>
          <a:blip r:embed="rId2"/>
          <a:stretch>
            <a:fillRect/>
          </a:stretch>
        </p:blipFill>
        <p:spPr>
          <a:xfrm>
            <a:off x="1348032" y="1949449"/>
            <a:ext cx="9879291" cy="4800143"/>
          </a:xfrm>
        </p:spPr>
      </p:pic>
    </p:spTree>
    <p:extLst>
      <p:ext uri="{BB962C8B-B14F-4D97-AF65-F5344CB8AC3E}">
        <p14:creationId xmlns:p14="http://schemas.microsoft.com/office/powerpoint/2010/main" val="18006118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1CF03-2BF8-B0D5-13A3-62E3D235861E}"/>
              </a:ext>
            </a:extLst>
          </p:cNvPr>
          <p:cNvSpPr>
            <a:spLocks noGrp="1"/>
          </p:cNvSpPr>
          <p:nvPr>
            <p:ph type="title"/>
          </p:nvPr>
        </p:nvSpPr>
        <p:spPr>
          <a:xfrm>
            <a:off x="1486039" y="719679"/>
            <a:ext cx="9603275" cy="769756"/>
          </a:xfrm>
        </p:spPr>
        <p:txBody>
          <a:bodyPr>
            <a:normAutofit fontScale="90000"/>
          </a:bodyPr>
          <a:lstStyle/>
          <a:p>
            <a:r>
              <a:rPr lang="en-IN" sz="3100" b="1" kern="0" dirty="0">
                <a:effectLst/>
                <a:ea typeface="Times New Roman" panose="02020603050405020304" pitchFamily="18" charset="0"/>
                <a:cs typeface="Times New Roman" panose="02020603050405020304" pitchFamily="18" charset="0"/>
              </a:rPr>
              <a:t>AWS Architecture for Data Processing:</a:t>
            </a:r>
            <a:br>
              <a:rPr lang="en-IN" sz="3100" b="1" kern="0" dirty="0">
                <a:effectLst/>
                <a:ea typeface="Times New Roman" panose="02020603050405020304" pitchFamily="18" charset="0"/>
                <a:cs typeface="Times New Roman" panose="02020603050405020304" pitchFamily="18" charset="0"/>
              </a:rPr>
            </a:br>
            <a:br>
              <a:rPr lang="en-IN" sz="1800" kern="100" dirty="0">
                <a:effectLst/>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4" name="Content Placeholder 3">
            <a:extLst>
              <a:ext uri="{FF2B5EF4-FFF2-40B4-BE49-F238E27FC236}">
                <a16:creationId xmlns:a16="http://schemas.microsoft.com/office/drawing/2014/main" id="{E62B8371-F23D-6E77-4C65-43A291A1B4E5}"/>
              </a:ext>
            </a:extLst>
          </p:cNvPr>
          <p:cNvSpPr>
            <a:spLocks noGrp="1"/>
          </p:cNvSpPr>
          <p:nvPr>
            <p:ph idx="1"/>
          </p:nvPr>
        </p:nvSpPr>
        <p:spPr/>
        <p:txBody>
          <a:bodyPr>
            <a:normAutofit fontScale="70000" lnSpcReduction="20000"/>
          </a:bodyPr>
          <a:lstStyle/>
          <a:p>
            <a:r>
              <a:rPr lang="en-US" dirty="0"/>
              <a:t>Amazon S3 : This service is used to store all raw data. acts as the primary data lake where all incoming data whether it comes in streams or batches, is initially landed.</a:t>
            </a:r>
          </a:p>
          <a:p>
            <a:r>
              <a:rPr lang="en-US" dirty="0"/>
              <a:t>Amazon Kinesis : It is a service for managing real-time data streams. It instantly feeds real-time data into the processing systems by capturing it from multiple sources.</a:t>
            </a:r>
          </a:p>
          <a:p>
            <a:r>
              <a:rPr lang="en-US" dirty="0"/>
              <a:t>Amazon EMR : It provides Spark hosting for batch and real-time processing. EMR periodically executes jobs to process historical data stored in S3 for batch processing. It handles data arriving from Amazon Kinesis using Spark Streaming for real-time processing, processing it as it comes in.</a:t>
            </a:r>
          </a:p>
          <a:p>
            <a:r>
              <a:rPr lang="en-US" dirty="0"/>
              <a:t>Amazon Redshift : It  serves as the serving layer, loading processed data from both batch and real-time processes. Large datasets can be queried complexly using this robust data warehouse, which integrates the output of both processing methods to provide thorough insights.</a:t>
            </a:r>
          </a:p>
          <a:p>
            <a:r>
              <a:rPr lang="en-US" dirty="0"/>
              <a:t>Amazon DynamoDB : Optionally used for storing outputs from real-time processing, enabling quick access to the most recent data.</a:t>
            </a:r>
          </a:p>
          <a:p>
            <a:endParaRPr lang="en-IN" dirty="0"/>
          </a:p>
        </p:txBody>
      </p:sp>
    </p:spTree>
    <p:extLst>
      <p:ext uri="{BB962C8B-B14F-4D97-AF65-F5344CB8AC3E}">
        <p14:creationId xmlns:p14="http://schemas.microsoft.com/office/powerpoint/2010/main" val="23250552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1CF03-2BF8-B0D5-13A3-62E3D235861E}"/>
              </a:ext>
            </a:extLst>
          </p:cNvPr>
          <p:cNvSpPr>
            <a:spLocks noGrp="1"/>
          </p:cNvSpPr>
          <p:nvPr>
            <p:ph type="title"/>
          </p:nvPr>
        </p:nvSpPr>
        <p:spPr>
          <a:xfrm>
            <a:off x="1486039" y="719679"/>
            <a:ext cx="9603275" cy="769756"/>
          </a:xfrm>
        </p:spPr>
        <p:txBody>
          <a:bodyPr/>
          <a:lstStyle/>
          <a:p>
            <a:r>
              <a:rPr lang="en-US" dirty="0"/>
              <a:t>AWS- ARCHITECTURE DIAGRAM</a:t>
            </a:r>
            <a:endParaRPr lang="en-IN" dirty="0"/>
          </a:p>
        </p:txBody>
      </p:sp>
      <p:pic>
        <p:nvPicPr>
          <p:cNvPr id="5" name="Content Placeholder 4">
            <a:extLst>
              <a:ext uri="{FF2B5EF4-FFF2-40B4-BE49-F238E27FC236}">
                <a16:creationId xmlns:a16="http://schemas.microsoft.com/office/drawing/2014/main" id="{A5FAF017-8385-55F6-E8E4-7DCCBE41AB99}"/>
              </a:ext>
            </a:extLst>
          </p:cNvPr>
          <p:cNvPicPr>
            <a:picLocks noGrp="1" noChangeAspect="1"/>
          </p:cNvPicPr>
          <p:nvPr>
            <p:ph idx="1"/>
          </p:nvPr>
        </p:nvPicPr>
        <p:blipFill>
          <a:blip r:embed="rId2"/>
          <a:stretch>
            <a:fillRect/>
          </a:stretch>
        </p:blipFill>
        <p:spPr>
          <a:xfrm>
            <a:off x="3585641" y="2016125"/>
            <a:ext cx="5335043" cy="3449638"/>
          </a:xfrm>
          <a:prstGeom prst="rect">
            <a:avLst/>
          </a:prstGeom>
        </p:spPr>
      </p:pic>
    </p:spTree>
    <p:extLst>
      <p:ext uri="{BB962C8B-B14F-4D97-AF65-F5344CB8AC3E}">
        <p14:creationId xmlns:p14="http://schemas.microsoft.com/office/powerpoint/2010/main" val="822732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1CF03-2BF8-B0D5-13A3-62E3D235861E}"/>
              </a:ext>
            </a:extLst>
          </p:cNvPr>
          <p:cNvSpPr>
            <a:spLocks noGrp="1"/>
          </p:cNvSpPr>
          <p:nvPr>
            <p:ph type="title"/>
          </p:nvPr>
        </p:nvSpPr>
        <p:spPr>
          <a:xfrm>
            <a:off x="1486039" y="719679"/>
            <a:ext cx="9603275" cy="769756"/>
          </a:xfrm>
        </p:spPr>
        <p:txBody>
          <a:bodyPr>
            <a:normAutofit fontScale="90000"/>
          </a:bodyPr>
          <a:lstStyle/>
          <a:p>
            <a:r>
              <a:rPr lang="en-IN" sz="3100" kern="0" dirty="0">
                <a:effectLst/>
                <a:ea typeface="Times New Roman" panose="02020603050405020304" pitchFamily="18" charset="0"/>
                <a:cs typeface="Times New Roman" panose="02020603050405020304" pitchFamily="18" charset="0"/>
              </a:rPr>
              <a:t>Architecture - Explanation</a:t>
            </a:r>
            <a:br>
              <a:rPr lang="en-IN" sz="3100" b="1" kern="0" dirty="0">
                <a:effectLst/>
                <a:ea typeface="Times New Roman" panose="02020603050405020304" pitchFamily="18" charset="0"/>
                <a:cs typeface="Times New Roman" panose="02020603050405020304" pitchFamily="18" charset="0"/>
              </a:rPr>
            </a:br>
            <a:br>
              <a:rPr lang="en-IN" sz="1800" kern="100" dirty="0">
                <a:effectLst/>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4" name="Content Placeholder 3">
            <a:extLst>
              <a:ext uri="{FF2B5EF4-FFF2-40B4-BE49-F238E27FC236}">
                <a16:creationId xmlns:a16="http://schemas.microsoft.com/office/drawing/2014/main" id="{E62B8371-F23D-6E77-4C65-43A291A1B4E5}"/>
              </a:ext>
            </a:extLst>
          </p:cNvPr>
          <p:cNvSpPr>
            <a:spLocks noGrp="1"/>
          </p:cNvSpPr>
          <p:nvPr>
            <p:ph idx="1"/>
          </p:nvPr>
        </p:nvSpPr>
        <p:spPr/>
        <p:txBody>
          <a:bodyPr>
            <a:noAutofit/>
          </a:bodyPr>
          <a:lstStyle/>
          <a:p>
            <a:r>
              <a:rPr lang="en-US" sz="1800" dirty="0"/>
              <a:t>Access Control/Security (Amazon IAM): Implements security guidelines for all system communications and data flows. It ensures that only authorized individuals and systems can access or utilize your AWS resources by managing permission and authentication for all involved AWS services.</a:t>
            </a:r>
          </a:p>
          <a:p>
            <a:r>
              <a:rPr lang="en-US" sz="1800" dirty="0"/>
              <a:t>(1)Amazon Kinesis to Amazon EMR: Real-time data is captured by Amazon Kinesis and sent to Amazon EMR for immediate processing.</a:t>
            </a:r>
          </a:p>
          <a:p>
            <a:r>
              <a:rPr lang="en-US" sz="1800" dirty="0"/>
              <a:t>(2)Amazon EMR to Amazon DynamoDB: Processed real-time data is stored in Amazon DynamoDB for quick access and retrieval.</a:t>
            </a:r>
          </a:p>
          <a:p>
            <a:r>
              <a:rPr lang="en-US" sz="1800" dirty="0"/>
              <a:t>(3)Amazon DynamoDB to Amazon Redshift: Data from DynamoDB is loaded into Amazon Redshift for integrated querying and analysis using Spark SQL.</a:t>
            </a:r>
          </a:p>
        </p:txBody>
      </p:sp>
    </p:spTree>
    <p:extLst>
      <p:ext uri="{BB962C8B-B14F-4D97-AF65-F5344CB8AC3E}">
        <p14:creationId xmlns:p14="http://schemas.microsoft.com/office/powerpoint/2010/main" val="1594378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1CF03-2BF8-B0D5-13A3-62E3D235861E}"/>
              </a:ext>
            </a:extLst>
          </p:cNvPr>
          <p:cNvSpPr>
            <a:spLocks noGrp="1"/>
          </p:cNvSpPr>
          <p:nvPr>
            <p:ph type="title"/>
          </p:nvPr>
        </p:nvSpPr>
        <p:spPr>
          <a:xfrm>
            <a:off x="1486039" y="719679"/>
            <a:ext cx="9603275" cy="769756"/>
          </a:xfrm>
        </p:spPr>
        <p:txBody>
          <a:bodyPr>
            <a:normAutofit fontScale="90000"/>
          </a:bodyPr>
          <a:lstStyle/>
          <a:p>
            <a:r>
              <a:rPr lang="en-IN" sz="3100" kern="0" dirty="0">
                <a:effectLst/>
                <a:ea typeface="Times New Roman" panose="02020603050405020304" pitchFamily="18" charset="0"/>
                <a:cs typeface="Times New Roman" panose="02020603050405020304" pitchFamily="18" charset="0"/>
              </a:rPr>
              <a:t>Architecture - Explanation</a:t>
            </a:r>
            <a:br>
              <a:rPr lang="en-IN" sz="3100" b="1" kern="0" dirty="0">
                <a:effectLst/>
                <a:ea typeface="Times New Roman" panose="02020603050405020304" pitchFamily="18" charset="0"/>
                <a:cs typeface="Times New Roman" panose="02020603050405020304" pitchFamily="18" charset="0"/>
              </a:rPr>
            </a:br>
            <a:br>
              <a:rPr lang="en-IN" sz="1800" kern="100" dirty="0">
                <a:effectLst/>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4" name="Content Placeholder 3">
            <a:extLst>
              <a:ext uri="{FF2B5EF4-FFF2-40B4-BE49-F238E27FC236}">
                <a16:creationId xmlns:a16="http://schemas.microsoft.com/office/drawing/2014/main" id="{E62B8371-F23D-6E77-4C65-43A291A1B4E5}"/>
              </a:ext>
            </a:extLst>
          </p:cNvPr>
          <p:cNvSpPr>
            <a:spLocks noGrp="1"/>
          </p:cNvSpPr>
          <p:nvPr>
            <p:ph idx="1"/>
          </p:nvPr>
        </p:nvSpPr>
        <p:spPr/>
        <p:txBody>
          <a:bodyPr>
            <a:noAutofit/>
          </a:bodyPr>
          <a:lstStyle/>
          <a:p>
            <a:r>
              <a:rPr lang="en-US" sz="1800" dirty="0"/>
              <a:t>(4)Amazon S3 to Amazon EMR: Raw batch data is taken from Amazon S3 and processed by Amazon EMR.</a:t>
            </a:r>
          </a:p>
          <a:p>
            <a:r>
              <a:rPr lang="en-US" sz="1800" dirty="0"/>
              <a:t>(5)Amazon EMR to Amazon S3: Processed batch data is stored back into Amazon S3 for persistence and further use.</a:t>
            </a:r>
          </a:p>
          <a:p>
            <a:r>
              <a:rPr lang="en-US" sz="1800" dirty="0"/>
              <a:t>(6)Amazon S3 to Amazon Redshift: Processed batch data from Amazon S3 is loaded into Amazon Redshift for comprehensive data analysis.</a:t>
            </a:r>
          </a:p>
          <a:p>
            <a:r>
              <a:rPr lang="en-US" sz="1800" dirty="0"/>
              <a:t>All the stages guarantee that data flows smoothly from storage to processing to ingestion, which in turn makes integrated analytics on Amazon Redshift.</a:t>
            </a:r>
            <a:endParaRPr lang="en-IN" sz="1800" dirty="0"/>
          </a:p>
          <a:p>
            <a:pPr marL="0" indent="0">
              <a:buNone/>
            </a:pPr>
            <a:endParaRPr lang="en-US" sz="1800" dirty="0"/>
          </a:p>
        </p:txBody>
      </p:sp>
    </p:spTree>
    <p:extLst>
      <p:ext uri="{BB962C8B-B14F-4D97-AF65-F5344CB8AC3E}">
        <p14:creationId xmlns:p14="http://schemas.microsoft.com/office/powerpoint/2010/main" val="2506575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1CF03-2BF8-B0D5-13A3-62E3D235861E}"/>
              </a:ext>
            </a:extLst>
          </p:cNvPr>
          <p:cNvSpPr>
            <a:spLocks noGrp="1"/>
          </p:cNvSpPr>
          <p:nvPr>
            <p:ph type="title"/>
          </p:nvPr>
        </p:nvSpPr>
        <p:spPr>
          <a:xfrm>
            <a:off x="1486039" y="719679"/>
            <a:ext cx="9603275" cy="769756"/>
          </a:xfrm>
        </p:spPr>
        <p:txBody>
          <a:bodyPr>
            <a:normAutofit fontScale="90000"/>
          </a:bodyPr>
          <a:lstStyle/>
          <a:p>
            <a:r>
              <a:rPr lang="en-IN" sz="3100" kern="0" dirty="0">
                <a:effectLst/>
                <a:ea typeface="Times New Roman" panose="02020603050405020304" pitchFamily="18" charset="0"/>
                <a:cs typeface="Times New Roman" panose="02020603050405020304" pitchFamily="18" charset="0"/>
              </a:rPr>
              <a:t>Optimising DATA CAPABILITIES WITH SNOWFLAKE</a:t>
            </a:r>
            <a:br>
              <a:rPr lang="en-IN" sz="3100" b="1" kern="0" dirty="0">
                <a:effectLst/>
                <a:ea typeface="Times New Roman" panose="02020603050405020304" pitchFamily="18" charset="0"/>
                <a:cs typeface="Times New Roman" panose="02020603050405020304" pitchFamily="18" charset="0"/>
              </a:rPr>
            </a:br>
            <a:br>
              <a:rPr lang="en-IN" sz="1800" kern="100" dirty="0">
                <a:effectLst/>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4" name="Content Placeholder 3">
            <a:extLst>
              <a:ext uri="{FF2B5EF4-FFF2-40B4-BE49-F238E27FC236}">
                <a16:creationId xmlns:a16="http://schemas.microsoft.com/office/drawing/2014/main" id="{E62B8371-F23D-6E77-4C65-43A291A1B4E5}"/>
              </a:ext>
            </a:extLst>
          </p:cNvPr>
          <p:cNvSpPr>
            <a:spLocks noGrp="1"/>
          </p:cNvSpPr>
          <p:nvPr>
            <p:ph idx="1"/>
          </p:nvPr>
        </p:nvSpPr>
        <p:spPr/>
        <p:txBody>
          <a:bodyPr>
            <a:noAutofit/>
          </a:bodyPr>
          <a:lstStyle/>
          <a:p>
            <a:r>
              <a:rPr lang="en-US" sz="1800" dirty="0"/>
              <a:t>How Snowflake enhances  model:</a:t>
            </a:r>
          </a:p>
          <a:p>
            <a:endParaRPr lang="en-US" sz="1800" dirty="0"/>
          </a:p>
          <a:p>
            <a:r>
              <a:rPr lang="en-US" sz="1800" dirty="0"/>
              <a:t>Efficient Querying: Snowflake’s native support for  simplifies data analysis by eliminating the need for significant preprocessing or transformation.</a:t>
            </a:r>
          </a:p>
          <a:p>
            <a:r>
              <a:rPr lang="en-US" sz="1800" dirty="0"/>
              <a:t>Scalability: Snowflake’s architecture allows for dynamic scaling of compute resources without interfering with ongoing processes.</a:t>
            </a:r>
          </a:p>
          <a:p>
            <a:r>
              <a:rPr lang="en-US" sz="1800" dirty="0"/>
              <a:t>Ease of Maintenance: Snowflake abstracts the complexity of infrastructure management, allowing data teams to focus more on data analytics.</a:t>
            </a:r>
          </a:p>
        </p:txBody>
      </p:sp>
    </p:spTree>
    <p:extLst>
      <p:ext uri="{BB962C8B-B14F-4D97-AF65-F5344CB8AC3E}">
        <p14:creationId xmlns:p14="http://schemas.microsoft.com/office/powerpoint/2010/main" val="221944484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1CF03-2BF8-B0D5-13A3-62E3D235861E}"/>
              </a:ext>
            </a:extLst>
          </p:cNvPr>
          <p:cNvSpPr>
            <a:spLocks noGrp="1"/>
          </p:cNvSpPr>
          <p:nvPr>
            <p:ph type="title"/>
          </p:nvPr>
        </p:nvSpPr>
        <p:spPr>
          <a:xfrm>
            <a:off x="1486039" y="719679"/>
            <a:ext cx="9603275" cy="769756"/>
          </a:xfrm>
        </p:spPr>
        <p:txBody>
          <a:bodyPr>
            <a:normAutofit fontScale="90000"/>
          </a:bodyPr>
          <a:lstStyle/>
          <a:p>
            <a:r>
              <a:rPr lang="en-IN" sz="3100" kern="0" dirty="0">
                <a:effectLst/>
                <a:ea typeface="Times New Roman" panose="02020603050405020304" pitchFamily="18" charset="0"/>
                <a:cs typeface="Times New Roman" panose="02020603050405020304" pitchFamily="18" charset="0"/>
              </a:rPr>
              <a:t>Optimising DATA CAPABILITIES WITH SNOWFLAKE</a:t>
            </a:r>
            <a:br>
              <a:rPr lang="en-IN" sz="3100" b="1" kern="0" dirty="0">
                <a:effectLst/>
                <a:ea typeface="Times New Roman" panose="02020603050405020304" pitchFamily="18" charset="0"/>
                <a:cs typeface="Times New Roman" panose="02020603050405020304" pitchFamily="18" charset="0"/>
              </a:rPr>
            </a:br>
            <a:br>
              <a:rPr lang="en-IN" sz="1800" kern="100" dirty="0">
                <a:effectLst/>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4" name="Content Placeholder 3">
            <a:extLst>
              <a:ext uri="{FF2B5EF4-FFF2-40B4-BE49-F238E27FC236}">
                <a16:creationId xmlns:a16="http://schemas.microsoft.com/office/drawing/2014/main" id="{E62B8371-F23D-6E77-4C65-43A291A1B4E5}"/>
              </a:ext>
            </a:extLst>
          </p:cNvPr>
          <p:cNvSpPr>
            <a:spLocks noGrp="1"/>
          </p:cNvSpPr>
          <p:nvPr>
            <p:ph idx="1"/>
          </p:nvPr>
        </p:nvSpPr>
        <p:spPr/>
        <p:txBody>
          <a:bodyPr>
            <a:noAutofit/>
          </a:bodyPr>
          <a:lstStyle/>
          <a:p>
            <a:r>
              <a:rPr lang="en-US" sz="1800" dirty="0"/>
              <a:t>Resource Optimization: </a:t>
            </a:r>
          </a:p>
          <a:p>
            <a:r>
              <a:rPr lang="en-US" sz="1800" dirty="0"/>
              <a:t>Snowflake’s streamlined management reduces the time data engineers spend on repetitive tasks, allowing them to focus on more strategic efforts.</a:t>
            </a:r>
          </a:p>
          <a:p>
            <a:r>
              <a:rPr lang="en-US" sz="1800" dirty="0"/>
              <a:t>Data Recovery and Reliability: </a:t>
            </a:r>
          </a:p>
          <a:p>
            <a:r>
              <a:rPr lang="en-US" sz="1800" dirty="0"/>
              <a:t>Snowflake provides automatic data replication and failover capabilities, protecting data from loss and ensuring business continuity.</a:t>
            </a:r>
          </a:p>
        </p:txBody>
      </p:sp>
    </p:spTree>
    <p:extLst>
      <p:ext uri="{BB962C8B-B14F-4D97-AF65-F5344CB8AC3E}">
        <p14:creationId xmlns:p14="http://schemas.microsoft.com/office/powerpoint/2010/main" val="177870963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53F1D7-7821-B011-279C-6B50BA787B3F}"/>
              </a:ext>
            </a:extLst>
          </p:cNvPr>
          <p:cNvSpPr>
            <a:spLocks noGrp="1"/>
          </p:cNvSpPr>
          <p:nvPr>
            <p:ph type="title"/>
          </p:nvPr>
        </p:nvSpPr>
        <p:spPr>
          <a:xfrm>
            <a:off x="1508140" y="2077138"/>
            <a:ext cx="9603275" cy="1049235"/>
          </a:xfrm>
        </p:spPr>
        <p:txBody>
          <a:bodyPr/>
          <a:lstStyle/>
          <a:p>
            <a:r>
              <a:rPr lang="en-US" dirty="0"/>
              <a:t>                         </a:t>
            </a:r>
            <a:r>
              <a:rPr lang="en-US" sz="4800" dirty="0"/>
              <a:t>THANK YOU</a:t>
            </a:r>
            <a:endParaRPr lang="en-IN" sz="4800" dirty="0"/>
          </a:p>
        </p:txBody>
      </p:sp>
    </p:spTree>
    <p:extLst>
      <p:ext uri="{BB962C8B-B14F-4D97-AF65-F5344CB8AC3E}">
        <p14:creationId xmlns:p14="http://schemas.microsoft.com/office/powerpoint/2010/main" val="2113179959"/>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Gallery</Template>
  <TotalTime>242</TotalTime>
  <Words>1077</Words>
  <Application>Microsoft Office PowerPoint</Application>
  <PresentationFormat>Widescreen</PresentationFormat>
  <Paragraphs>89</Paragraphs>
  <Slides>29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29</vt:i4>
      </vt:variant>
    </vt:vector>
  </HeadingPairs>
  <TitlesOfParts>
    <vt:vector size="34" baseType="lpstr">
      <vt:lpstr>Arial</vt:lpstr>
      <vt:lpstr>Calibri</vt:lpstr>
      <vt:lpstr>Gill Sans MT</vt:lpstr>
      <vt:lpstr>Times New Roman</vt:lpstr>
      <vt:lpstr>Gallery</vt:lpstr>
      <vt:lpstr>DISEASE MODEL</vt:lpstr>
      <vt:lpstr>INTRODUCTION</vt:lpstr>
      <vt:lpstr>BUSINESS PROBLEM</vt:lpstr>
      <vt:lpstr>TABLES ( DISEASE MANAGEMENT )</vt:lpstr>
      <vt:lpstr>ER DIAGRAM – TRANSACTIONAL MODEL – DISEASEMANAGEMENT</vt:lpstr>
      <vt:lpstr>DATA DICTIONARY</vt:lpstr>
      <vt:lpstr>PowerPoint Presentation</vt:lpstr>
      <vt:lpstr>PowerPoint Presentation</vt:lpstr>
      <vt:lpstr>PowerPoint Presentation</vt:lpstr>
      <vt:lpstr>DDL COMMANDS</vt:lpstr>
      <vt:lpstr>DML COMMANDS</vt:lpstr>
      <vt:lpstr>OPERATIONAL QUERIES</vt:lpstr>
      <vt:lpstr>OPERATIONAL QUERIES</vt:lpstr>
      <vt:lpstr>REPORTS</vt:lpstr>
      <vt:lpstr>DIMESNIONAL MODEL</vt:lpstr>
      <vt:lpstr>DIMESNIONAL MODEL</vt:lpstr>
      <vt:lpstr>DIMESNIONAL MODEL</vt:lpstr>
      <vt:lpstr>DIMESNIONAL MODEL</vt:lpstr>
      <vt:lpstr>DIMENSIONAL MODEL</vt:lpstr>
      <vt:lpstr>Setting up data warehouse – ETL Process</vt:lpstr>
      <vt:lpstr>Analytical queries</vt:lpstr>
      <vt:lpstr>No SQL and Relational Contrast:</vt:lpstr>
      <vt:lpstr>AWS Architecture for Data Processing:  </vt:lpstr>
      <vt:lpstr>AWS- ARCHITECTURE DIAGRAM</vt:lpstr>
      <vt:lpstr>Architecture - Explanation  </vt:lpstr>
      <vt:lpstr>Architecture - Explanation  </vt:lpstr>
      <vt:lpstr>Optimising DATA CAPABILITIES WITH SNOWFLAKE  </vt:lpstr>
      <vt:lpstr>Optimising DATA CAPABILITIES WITH SNOWFLAKE  </vt:lpstr>
      <vt:lpstr>                         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DISEASE MODEL</dc:title>
  <dc:creator>Sai Praneeth Chagiri</dc:creator>
  <cp:lastModifiedBy>Lasya Nandagiri</cp:lastModifiedBy>
  <cp:revision>19</cp:revision>
  <dcterms:created xsi:type="dcterms:W3CDTF">2024-05-09T03:38:30Z</dcterms:created>
  <dcterms:modified xsi:type="dcterms:W3CDTF">2024-05-09T19:47:07Z</dcterms:modified>
</cp:coreProperties>
</file>